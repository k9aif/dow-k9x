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08DE-463B-7017-6784-E61B0AB6E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39C79-A40A-534F-4BA0-60D037B0A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98F9-ABD8-F4F6-E31B-FE4D0E55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2A5AB-7C1D-AB65-1214-13B4004D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509E9-6EE3-1B44-FF80-4F251ADF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3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9A13-E294-2632-A76C-3D536108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89495-B299-24B4-F04B-C617C29D0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AE1D-6C96-C090-BD4B-202571A8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98C6-598D-E980-FBA5-E37B60F1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D7808-A456-4AB4-03C0-D9BA392C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1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CD55-8839-769A-B219-3557441E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A3956-373B-E52F-3AC7-13B1210A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0533A-C58E-B5AC-B80A-327CD228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D2B26-ABB8-0299-F82B-45E4A5CA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B68B0-96DA-F2F0-C9ED-E963D1AD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4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792B-1DDF-B87C-CEE9-A6AC2B0B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A01F-AB2A-F270-3A02-7906AD783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95C71-A2FE-48E0-FF96-042410467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22506-30D5-65F2-105E-D7F54B73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76C0C-B371-1131-13C3-6BBD63F6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A4ADC-F4A7-5150-F3F8-5A280FEC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0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4D7E-AB93-AAF8-5E81-59695326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4970E-7143-71C7-C2AA-D6BEE3F32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CECC6-0818-D024-8D82-296DA017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3F4CC-0F95-9684-E086-398B80E84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24EB5-6CEB-D5EB-AA86-AD0ADB8CB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E84ED-687E-3ACA-094F-C40515A2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0C371-063A-D64F-EB30-6BDCD0CA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0E93A-7267-1734-D98D-0B9EA6C4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0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10E8-149A-B6F0-D135-C548D0CF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0BAB2-BA10-48E9-3C80-8318BD9A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8EEB5-9AD5-CDDA-840B-CE278177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1650B-CF59-38CE-DA21-BFF91A99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4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60FB1-93B2-30DB-3821-D57340C9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EF04A9-8FE6-627E-0B55-32A3C376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A154F-1E0C-6D8A-E72A-2FDA179B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C146-B6CB-B228-D1E7-60276C79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91EF9-F78D-FEDF-7187-64EAEC717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13C90-5813-CD6D-4A41-246AF6E7D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0171-7340-45D2-3A45-E0DD2D57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C161C-4D05-BF3F-4C53-D19E12D4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EAD41-4B66-6FC3-3265-D8697ABD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6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CF2E-5B21-EFCD-4819-9E30F1A0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6A914-2DE7-3179-DD21-D39E454C3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B6CB5-ED3C-DC46-F30C-89DC0654B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5277B-6237-580C-7301-A1108B8B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474B5-32E5-7E09-7AC9-69176E7A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7CA7-68E1-8F47-BE1D-5EF61678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9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0BAA-B767-5813-2E0E-CF5D5DB9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70994-5CA7-7A81-4E01-81E4E4657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A6049-ACDA-0DAF-28D9-08B151A5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8B1C-B639-9478-DD9D-0F3FA8A9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E65FE-5568-8FAF-5BC5-3319A04F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020E1-D3AB-9D3C-278E-A6E9A53B2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57A86-42C7-823F-82B8-2C1B24159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1F715-DB98-94CA-A2C0-0D70672F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4D22A-68CC-84AE-B405-57AB82F4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3B50-75B3-441B-A8D4-75A0FF2F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C6713-3607-0269-C7A2-7BE23645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ABCB8-39CF-FADD-F45D-541C4E728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11476-4708-AF01-5E81-710817DF7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B9EEE-7641-A647-9FE4-5364053A783A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A15F5-DA42-F1C7-F33C-139BA7E5A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165B8-A677-5446-C8D7-EF8D10E88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A698D-CE9B-2440-A923-DC794155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6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D0E35B-9325-2226-37AD-673582B03B49}"/>
              </a:ext>
            </a:extLst>
          </p:cNvPr>
          <p:cNvSpPr txBox="1"/>
          <p:nvPr/>
        </p:nvSpPr>
        <p:spPr>
          <a:xfrm>
            <a:off x="704194" y="104207"/>
            <a:ext cx="1043677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b="1" i="0" dirty="0">
                <a:solidFill>
                  <a:srgbClr val="4D382F"/>
                </a:solidFill>
                <a:effectLst/>
                <a:latin typeface="Arial" panose="020B0604020202020204" pitchFamily="34" charset="0"/>
              </a:rPr>
              <a:t>K9-AIF Continuous Architecture Evolution</a:t>
            </a:r>
          </a:p>
          <a:p>
            <a:pPr algn="ctr">
              <a:spcAft>
                <a:spcPts val="1950"/>
              </a:spcAft>
              <a:buNone/>
            </a:pPr>
            <a:r>
              <a:rPr lang="en-US" b="0" i="0" dirty="0">
                <a:solidFill>
                  <a:srgbClr val="7A6358"/>
                </a:solidFill>
                <a:effectLst/>
                <a:latin typeface="Arial" panose="020B0604020202020204" pitchFamily="34" charset="0"/>
              </a:rPr>
              <a:t>We don’t just define systems — we define how systems improve themselves without breaking architecture.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453959-8D18-5109-F869-D4B11A4D23DA}"/>
              </a:ext>
            </a:extLst>
          </p:cNvPr>
          <p:cNvSpPr/>
          <p:nvPr/>
        </p:nvSpPr>
        <p:spPr>
          <a:xfrm>
            <a:off x="2144110" y="1251827"/>
            <a:ext cx="7010400" cy="86075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ABB Layer — Stable Architecture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Principles • Patterns • Contracts • Constraints • Standards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90456F-F430-C17A-5BEF-1F5885AF088F}"/>
              </a:ext>
            </a:extLst>
          </p:cNvPr>
          <p:cNvSpPr/>
          <p:nvPr/>
        </p:nvSpPr>
        <p:spPr>
          <a:xfrm>
            <a:off x="3205654" y="2548759"/>
            <a:ext cx="4677104" cy="76725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Governance Gate</a:t>
            </a:r>
          </a:p>
          <a:p>
            <a:pPr algn="ctr"/>
            <a:r>
              <a:rPr lang="en-US" sz="1400" dirty="0"/>
              <a:t>Evaluate • Generalize • Standardize • Promote to ABB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069367-0BB9-5483-F007-093C002709B4}"/>
              </a:ext>
            </a:extLst>
          </p:cNvPr>
          <p:cNvSpPr/>
          <p:nvPr/>
        </p:nvSpPr>
        <p:spPr>
          <a:xfrm>
            <a:off x="2144110" y="3752193"/>
            <a:ext cx="7010400" cy="7672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K9-AIF Continuum (Pattern Repository)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Shared patterns • Templates • Proven solutions • Reuse catalog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21EA37-03F8-4712-53C6-C08D141E8EC4}"/>
              </a:ext>
            </a:extLst>
          </p:cNvPr>
          <p:cNvSpPr/>
          <p:nvPr/>
        </p:nvSpPr>
        <p:spPr>
          <a:xfrm>
            <a:off x="2165131" y="5365527"/>
            <a:ext cx="1744718" cy="7672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SBB A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Discovers pattern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55D691-5D6B-1C9F-0F69-04B014936AA7}"/>
              </a:ext>
            </a:extLst>
          </p:cNvPr>
          <p:cNvSpPr/>
          <p:nvPr/>
        </p:nvSpPr>
        <p:spPr>
          <a:xfrm>
            <a:off x="4776951" y="5386549"/>
            <a:ext cx="1744718" cy="7672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SBB A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Reuses from Continuum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FB8EAD8-98EC-58A1-E565-BE786001D4BB}"/>
              </a:ext>
            </a:extLst>
          </p:cNvPr>
          <p:cNvSpPr/>
          <p:nvPr/>
        </p:nvSpPr>
        <p:spPr>
          <a:xfrm>
            <a:off x="7409792" y="5386549"/>
            <a:ext cx="1744718" cy="7672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SBB A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Extends and improves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768B1D25-CF6C-7080-1421-5699FA81872D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3007275" y="4465582"/>
            <a:ext cx="930161" cy="869731"/>
          </a:xfrm>
          <a:prstGeom prst="curvedConnector3">
            <a:avLst>
              <a:gd name="adj1" fmla="val 42090"/>
            </a:avLst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E3D29D70-686B-E2FB-84F8-5CC23BEE1312}"/>
              </a:ext>
            </a:extLst>
          </p:cNvPr>
          <p:cNvCxnSpPr>
            <a:cxnSpLocks/>
            <a:stCxn id="11" idx="0"/>
          </p:cNvCxnSpPr>
          <p:nvPr/>
        </p:nvCxnSpPr>
        <p:spPr>
          <a:xfrm rot="16200000" flipV="1">
            <a:off x="7513584" y="4617982"/>
            <a:ext cx="969576" cy="567558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8D05A73-41FC-DFDA-E1DC-62BC4FF72950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5215760" y="4952998"/>
            <a:ext cx="867101" cy="12700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Up Arrow 22">
            <a:extLst>
              <a:ext uri="{FF2B5EF4-FFF2-40B4-BE49-F238E27FC236}">
                <a16:creationId xmlns:a16="http://schemas.microsoft.com/office/drawing/2014/main" id="{961C75DE-9882-C7EF-0496-CA45806CCE0A}"/>
              </a:ext>
            </a:extLst>
          </p:cNvPr>
          <p:cNvSpPr/>
          <p:nvPr/>
        </p:nvSpPr>
        <p:spPr>
          <a:xfrm>
            <a:off x="5327649" y="3216166"/>
            <a:ext cx="328011" cy="529678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FB0AF1F7-8162-57ED-49E5-95EA753453D0}"/>
              </a:ext>
            </a:extLst>
          </p:cNvPr>
          <p:cNvSpPr/>
          <p:nvPr/>
        </p:nvSpPr>
        <p:spPr>
          <a:xfrm>
            <a:off x="5386551" y="2019082"/>
            <a:ext cx="269110" cy="523327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89BBA6-5C38-AADD-6CA0-B2530C84F957}"/>
              </a:ext>
            </a:extLst>
          </p:cNvPr>
          <p:cNvSpPr txBox="1"/>
          <p:nvPr/>
        </p:nvSpPr>
        <p:spPr>
          <a:xfrm>
            <a:off x="1753694" y="4959348"/>
            <a:ext cx="1534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Publish Pattern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94218D-A4C2-26C9-6400-D71CBA626BDD}"/>
              </a:ext>
            </a:extLst>
          </p:cNvPr>
          <p:cNvSpPr txBox="1"/>
          <p:nvPr/>
        </p:nvSpPr>
        <p:spPr>
          <a:xfrm>
            <a:off x="8217556" y="4981898"/>
            <a:ext cx="119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Publish Pattern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8C064D-0E51-F16B-CC53-A00F2D7A7D26}"/>
              </a:ext>
            </a:extLst>
          </p:cNvPr>
          <p:cNvSpPr txBox="1"/>
          <p:nvPr/>
        </p:nvSpPr>
        <p:spPr>
          <a:xfrm>
            <a:off x="5640333" y="4955627"/>
            <a:ext cx="127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Discover and Reuse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B89CE69-BE02-6157-44BE-CE7B926F449C}"/>
              </a:ext>
            </a:extLst>
          </p:cNvPr>
          <p:cNvSpPr/>
          <p:nvPr/>
        </p:nvSpPr>
        <p:spPr>
          <a:xfrm>
            <a:off x="1608083" y="4955627"/>
            <a:ext cx="8439807" cy="169516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A38884-8BA9-1DB5-67B9-4541E3E8B97E}"/>
              </a:ext>
            </a:extLst>
          </p:cNvPr>
          <p:cNvSpPr txBox="1"/>
          <p:nvPr/>
        </p:nvSpPr>
        <p:spPr>
          <a:xfrm>
            <a:off x="3231384" y="62814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B2F2A"/>
                </a:solidFill>
                <a:effectLst/>
                <a:latin typeface="Arial" panose="020B0604020202020204" pitchFamily="34" charset="0"/>
              </a:rPr>
              <a:t>SBB Layer — Solution Implementations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8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87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Natarajan</dc:creator>
  <cp:lastModifiedBy>Ravi Natarajan</cp:lastModifiedBy>
  <cp:revision>1</cp:revision>
  <dcterms:created xsi:type="dcterms:W3CDTF">2026-03-24T13:35:03Z</dcterms:created>
  <dcterms:modified xsi:type="dcterms:W3CDTF">2026-03-24T13:52:24Z</dcterms:modified>
</cp:coreProperties>
</file>