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3" r:id="rId2"/>
    <p:sldId id="275" r:id="rId3"/>
    <p:sldId id="276" r:id="rId4"/>
    <p:sldId id="280" r:id="rId5"/>
    <p:sldId id="283" r:id="rId6"/>
    <p:sldId id="285" r:id="rId7"/>
    <p:sldId id="284" r:id="rId8"/>
    <p:sldId id="256" r:id="rId9"/>
    <p:sldId id="282" r:id="rId10"/>
    <p:sldId id="260" r:id="rId11"/>
    <p:sldId id="261" r:id="rId12"/>
    <p:sldId id="262" r:id="rId13"/>
    <p:sldId id="263" r:id="rId14"/>
    <p:sldId id="264" r:id="rId15"/>
    <p:sldId id="265" r:id="rId16"/>
    <p:sldId id="267" r:id="rId17"/>
    <p:sldId id="274" r:id="rId18"/>
    <p:sldId id="266" r:id="rId19"/>
    <p:sldId id="278" r:id="rId20"/>
    <p:sldId id="268" r:id="rId21"/>
    <p:sldId id="269" r:id="rId22"/>
    <p:sldId id="272" r:id="rId23"/>
    <p:sldId id="281" r:id="rId24"/>
    <p:sldId id="279" r:id="rId25"/>
    <p:sldId id="271" r:id="rId26"/>
    <p:sldId id="277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9"/>
    <p:restoredTop sz="92245"/>
  </p:normalViewPr>
  <p:slideViewPr>
    <p:cSldViewPr snapToGrid="0">
      <p:cViewPr>
        <p:scale>
          <a:sx n="100" d="100"/>
          <a:sy n="100" d="100"/>
        </p:scale>
        <p:origin x="90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9ED94-0DED-7C49-908D-F01B689E7FFC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46326-A733-874D-8913-3098AA5B2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8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“Let me start with a brief introduction to this deck.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goal of this presentation is to walk through the </a:t>
            </a:r>
            <a:r>
              <a:rPr lang="en-US" b="1" dirty="0" err="1"/>
              <a:t>DoW</a:t>
            </a:r>
            <a:r>
              <a:rPr lang="en-US" b="1" dirty="0"/>
              <a:t> Agentic Process Flow</a:t>
            </a:r>
            <a:r>
              <a:rPr lang="en-US" dirty="0"/>
              <a:t> that we’ve built for </a:t>
            </a:r>
            <a:r>
              <a:rPr lang="en-US" dirty="0" err="1"/>
              <a:t>DoDAF</a:t>
            </a:r>
            <a:r>
              <a:rPr lang="en-US" dirty="0"/>
              <a:t> 2.0.</a:t>
            </a:r>
          </a:p>
          <a:p>
            <a:r>
              <a:rPr lang="en-US" dirty="0"/>
              <a:t>This includes how documents are ingested, how they trigger processing, how they move through all six stages of analysis, and how the supporting architectural components work together behind the scenes.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We will go step-by-step through the full pipeline, beginning with ingestion and </a:t>
            </a:r>
            <a:r>
              <a:rPr lang="en-US" dirty="0" err="1"/>
              <a:t>Docling</a:t>
            </a:r>
            <a:r>
              <a:rPr lang="en-US" dirty="0"/>
              <a:t> OCR, moving through the six </a:t>
            </a:r>
            <a:r>
              <a:rPr lang="en-US" dirty="0" err="1"/>
              <a:t>DoDAF</a:t>
            </a:r>
            <a:r>
              <a:rPr lang="en-US" dirty="0"/>
              <a:t> stages, and finally showing how data from these stages is assembled into authoritative, structured architectural outputs.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You’ll also see where key subsystems fit in — the </a:t>
            </a:r>
            <a:r>
              <a:rPr lang="en-US" dirty="0" err="1"/>
              <a:t>DoW</a:t>
            </a:r>
            <a:r>
              <a:rPr lang="en-US" dirty="0"/>
              <a:t> Retriever, Neo4J Graph Store, IBM Rhapsody, PostgreSQL databases, and the Report Assembly Agents. Each subsystem has a very specific role, and together they form a complete, automated </a:t>
            </a:r>
            <a:r>
              <a:rPr lang="en-US" dirty="0" err="1"/>
              <a:t>DoDAF</a:t>
            </a:r>
            <a:r>
              <a:rPr lang="en-US" dirty="0"/>
              <a:t> 2.0 workflow.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By the end of the deck, you’ll have a clear picture of how this entire pipeline automates architectural reasoning for </a:t>
            </a:r>
            <a:r>
              <a:rPr lang="en-US" dirty="0" err="1"/>
              <a:t>DoW</a:t>
            </a:r>
            <a:r>
              <a:rPr lang="en-US" dirty="0"/>
              <a:t> and how each stage contributes to the overall architecture.”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43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49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F23B-0B25-E58C-0506-FBC7A79C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9764A-CFC1-A007-A3C0-84B393103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76971-100D-2B5E-DCD0-6D0475A64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ED79F-4D49-AE98-AFD2-DA1092B7F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59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82261-C37B-7726-D9C2-E583CFBD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97F39-5374-0540-290D-98CC2E5AD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3F685-82BC-70A0-1997-C11E5DA7D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4741D-ED08-66CF-3F52-E525B9A44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21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1169-4B9F-C8B2-001A-EC909E40B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C8927-9635-ADE7-3337-6DC3F99A2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84781-89A8-BD15-EACF-F389A17EF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9F64D-F33C-3A65-EF23-882667F2C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7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1" dirty="0"/>
              <a:t>Opening Context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b="1" dirty="0"/>
          </a:p>
          <a:p>
            <a:r>
              <a:rPr lang="en-US" dirty="0"/>
              <a:t>“Let me start with the high-level end-to-end agentic process flow.</a:t>
            </a:r>
          </a:p>
          <a:p>
            <a:r>
              <a:rPr lang="en-US" dirty="0"/>
              <a:t>This diagram shows how the </a:t>
            </a:r>
            <a:r>
              <a:rPr lang="en-US" dirty="0" err="1"/>
              <a:t>DoW</a:t>
            </a:r>
            <a:r>
              <a:rPr lang="en-US" dirty="0"/>
              <a:t> agentic architecture ingests raw documents, processes them through a governed set of agents, and generates </a:t>
            </a:r>
            <a:r>
              <a:rPr lang="en-US" dirty="0" err="1"/>
              <a:t>DoDAF</a:t>
            </a:r>
            <a:r>
              <a:rPr lang="en-US" dirty="0"/>
              <a:t>-compliant architecture outputs across six stages.”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2. User → Intake Layer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r>
              <a:rPr lang="en-US" dirty="0"/>
              <a:t>“We begin on the far left with the </a:t>
            </a:r>
            <a:r>
              <a:rPr lang="en-US" b="1" dirty="0"/>
              <a:t>user</a:t>
            </a:r>
            <a:r>
              <a:rPr lang="en-US" dirty="0"/>
              <a:t>, usually an analyst, engineer, or mission SME.</a:t>
            </a:r>
          </a:p>
          <a:p>
            <a:r>
              <a:rPr lang="en-US" dirty="0"/>
              <a:t>Their interaction with the system starts by </a:t>
            </a:r>
            <a:r>
              <a:rPr lang="en-US" b="1" dirty="0"/>
              <a:t>uploading documents</a:t>
            </a:r>
            <a:r>
              <a:rPr lang="en-US" dirty="0"/>
              <a:t>, which can be:</a:t>
            </a:r>
          </a:p>
          <a:p>
            <a:r>
              <a:rPr lang="en-US" dirty="0"/>
              <a:t>mission need statements</a:t>
            </a:r>
          </a:p>
          <a:p>
            <a:r>
              <a:rPr lang="en-US" dirty="0"/>
              <a:t>requirements documents</a:t>
            </a:r>
          </a:p>
          <a:p>
            <a:r>
              <a:rPr lang="en-US" dirty="0"/>
              <a:t>program artifacts</a:t>
            </a:r>
          </a:p>
          <a:p>
            <a:r>
              <a:rPr lang="en-US" dirty="0"/>
              <a:t>operational concepts</a:t>
            </a:r>
          </a:p>
          <a:p>
            <a:r>
              <a:rPr lang="en-US" dirty="0"/>
              <a:t>system descriptions</a:t>
            </a:r>
          </a:p>
          <a:p>
            <a:r>
              <a:rPr lang="en-US" dirty="0"/>
              <a:t>doctrine publications</a:t>
            </a:r>
          </a:p>
          <a:p>
            <a:r>
              <a:rPr lang="en-US" dirty="0"/>
              <a:t>threat reports</a:t>
            </a:r>
          </a:p>
          <a:p>
            <a:r>
              <a:rPr lang="en-US" dirty="0"/>
              <a:t>or any PDF/Word/text sources relevant to architecture development.”</a:t>
            </a:r>
          </a:p>
          <a:p>
            <a:endParaRPr lang="en-US" dirty="0"/>
          </a:p>
          <a:p>
            <a:r>
              <a:rPr lang="en-US" b="1" dirty="0"/>
              <a:t>3. Document Intake Agent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“These files hit the </a:t>
            </a:r>
            <a:r>
              <a:rPr lang="en-US" b="1" dirty="0"/>
              <a:t>Document Intake Agent</a:t>
            </a:r>
            <a:r>
              <a:rPr lang="en-US" dirty="0"/>
              <a:t>, which performs three critical actions:</a:t>
            </a:r>
          </a:p>
          <a:p>
            <a:r>
              <a:rPr lang="en-US" b="1" dirty="0"/>
              <a:t>Listens for uploads</a:t>
            </a:r>
            <a:endParaRPr lang="en-US" dirty="0"/>
          </a:p>
          <a:p>
            <a:r>
              <a:rPr lang="en-US" b="1" dirty="0"/>
              <a:t>Places documents into S3/</a:t>
            </a:r>
            <a:r>
              <a:rPr lang="en-US" b="1" dirty="0" err="1"/>
              <a:t>MinIO</a:t>
            </a:r>
            <a:r>
              <a:rPr lang="en-US" b="1" dirty="0"/>
              <a:t> storage</a:t>
            </a:r>
            <a:endParaRPr lang="en-US" dirty="0"/>
          </a:p>
          <a:p>
            <a:r>
              <a:rPr lang="en-US" b="1" dirty="0"/>
              <a:t>Sends a pipeline trigger event to Kafka/</a:t>
            </a:r>
            <a:r>
              <a:rPr lang="en-US" b="1" dirty="0" err="1"/>
              <a:t>Redpanda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event is what officially starts </a:t>
            </a:r>
            <a:r>
              <a:rPr lang="en-US" b="1" dirty="0"/>
              <a:t>Stage-1</a:t>
            </a:r>
            <a:r>
              <a:rPr lang="en-US" dirty="0"/>
              <a:t> of the </a:t>
            </a:r>
            <a:r>
              <a:rPr lang="en-US" dirty="0" err="1"/>
              <a:t>DoDAF</a:t>
            </a:r>
            <a:r>
              <a:rPr lang="en-US" dirty="0"/>
              <a:t> 2.0 pipeline.”</a:t>
            </a:r>
          </a:p>
          <a:p>
            <a:endParaRPr lang="en-US" dirty="0"/>
          </a:p>
          <a:p>
            <a:r>
              <a:rPr lang="en-US" b="1" dirty="0"/>
              <a:t>4. </a:t>
            </a:r>
            <a:r>
              <a:rPr lang="en-US" b="1" dirty="0" err="1"/>
              <a:t>Docling</a:t>
            </a:r>
            <a:r>
              <a:rPr lang="en-US" b="1" dirty="0"/>
              <a:t> OCR / Extraction</a:t>
            </a:r>
          </a:p>
          <a:p>
            <a:endParaRPr lang="en-US" b="1" dirty="0"/>
          </a:p>
          <a:p>
            <a:r>
              <a:rPr lang="en-US" dirty="0"/>
              <a:t>“Immediately after ingestion, the documents go through </a:t>
            </a:r>
            <a:r>
              <a:rPr lang="en-US" b="1" dirty="0" err="1"/>
              <a:t>Docling</a:t>
            </a:r>
            <a:r>
              <a:rPr lang="en-US" dirty="0"/>
              <a:t>:</a:t>
            </a:r>
          </a:p>
          <a:p>
            <a:r>
              <a:rPr lang="en-US" dirty="0"/>
              <a:t>OCR</a:t>
            </a:r>
          </a:p>
          <a:p>
            <a:r>
              <a:rPr lang="en-US" dirty="0"/>
              <a:t>layout reconstruction</a:t>
            </a:r>
          </a:p>
          <a:p>
            <a:r>
              <a:rPr lang="en-US" dirty="0"/>
              <a:t>table extraction</a:t>
            </a:r>
          </a:p>
          <a:p>
            <a:r>
              <a:rPr lang="en-US" dirty="0"/>
              <a:t>image extraction</a:t>
            </a:r>
          </a:p>
          <a:p>
            <a:r>
              <a:rPr lang="en-US" dirty="0"/>
              <a:t>and conversion to Markdown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Docling</a:t>
            </a:r>
            <a:r>
              <a:rPr lang="en-US" dirty="0"/>
              <a:t> produces </a:t>
            </a:r>
            <a:r>
              <a:rPr lang="en-US" b="1" dirty="0"/>
              <a:t>textual artifacts</a:t>
            </a:r>
            <a:r>
              <a:rPr lang="en-US" dirty="0"/>
              <a:t>, which are written back to S3.”</a:t>
            </a:r>
          </a:p>
          <a:p>
            <a:endParaRPr lang="en-US" dirty="0"/>
          </a:p>
          <a:p>
            <a:r>
              <a:rPr lang="en-US" b="1" dirty="0"/>
              <a:t>5. Kafka / </a:t>
            </a:r>
            <a:r>
              <a:rPr lang="en-US" b="1" dirty="0" err="1"/>
              <a:t>Redpanda</a:t>
            </a:r>
            <a:r>
              <a:rPr lang="en-US" b="1" dirty="0"/>
              <a:t> Stream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“KAFKA/</a:t>
            </a:r>
            <a:r>
              <a:rPr lang="en-US" dirty="0" err="1"/>
              <a:t>Redpanda</a:t>
            </a:r>
            <a:r>
              <a:rPr lang="en-US" dirty="0"/>
              <a:t> acts as the </a:t>
            </a:r>
            <a:r>
              <a:rPr lang="en-US" b="1" dirty="0"/>
              <a:t>control plane</a:t>
            </a:r>
            <a:r>
              <a:rPr lang="en-US" dirty="0"/>
              <a:t> for the pipeline.</a:t>
            </a:r>
          </a:p>
          <a:p>
            <a:r>
              <a:rPr lang="en-US" dirty="0"/>
              <a:t>It manages:</a:t>
            </a:r>
          </a:p>
          <a:p>
            <a:r>
              <a:rPr lang="en-US" dirty="0"/>
              <a:t>pipeline status</a:t>
            </a:r>
          </a:p>
          <a:p>
            <a:r>
              <a:rPr lang="en-US" dirty="0"/>
              <a:t>job execution updates</a:t>
            </a:r>
          </a:p>
          <a:p>
            <a:r>
              <a:rPr lang="en-US" dirty="0"/>
              <a:t>console feed for the UI</a:t>
            </a:r>
          </a:p>
          <a:p>
            <a:r>
              <a:rPr lang="en-US" dirty="0"/>
              <a:t>and downstream triggers for each stage.”</a:t>
            </a:r>
          </a:p>
          <a:p>
            <a:endParaRPr lang="en-US" dirty="0"/>
          </a:p>
          <a:p>
            <a:r>
              <a:rPr lang="en-US" b="1" dirty="0"/>
              <a:t>6. Logging Layer</a:t>
            </a:r>
          </a:p>
          <a:p>
            <a:endParaRPr lang="en-US" dirty="0"/>
          </a:p>
          <a:p>
            <a:r>
              <a:rPr lang="en-US" dirty="0"/>
              <a:t>“All agent logs, orchestrator logs, and pipeline metrics flow into the </a:t>
            </a:r>
            <a:r>
              <a:rPr lang="en-US" b="1" dirty="0"/>
              <a:t>Logging layer</a:t>
            </a:r>
            <a:r>
              <a:rPr lang="en-US" dirty="0"/>
              <a:t>.</a:t>
            </a:r>
          </a:p>
          <a:p>
            <a:r>
              <a:rPr lang="en-US" dirty="0"/>
              <a:t>This supports observability, traceability, debugging, and audit requirements.”</a:t>
            </a:r>
          </a:p>
          <a:p>
            <a:endParaRPr lang="en-US" dirty="0"/>
          </a:p>
          <a:p>
            <a:r>
              <a:rPr lang="en-US" b="1" dirty="0"/>
              <a:t>7. </a:t>
            </a:r>
            <a:r>
              <a:rPr lang="en-US" b="1" dirty="0" err="1"/>
              <a:t>DoDAF</a:t>
            </a:r>
            <a:r>
              <a:rPr lang="en-US" b="1" dirty="0"/>
              <a:t>-SE Pipeline (Stages 1 through 6)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“This is the heart of the system — the </a:t>
            </a:r>
            <a:r>
              <a:rPr lang="en-US" b="1" dirty="0"/>
              <a:t>six-stage </a:t>
            </a:r>
            <a:r>
              <a:rPr lang="en-US" b="1" dirty="0" err="1"/>
              <a:t>DoDAF</a:t>
            </a:r>
            <a:r>
              <a:rPr lang="en-US" b="1" dirty="0"/>
              <a:t> 2.0-aligned agentic pipeline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Each stage has its own multi-agent Crew, each one producing structured, governed outputs.”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95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456C5-4548-4B3C-3473-0838081B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DA604-D11E-8F14-03E2-0FE7E9217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A4E4A-64B0-1076-04FA-7AA2C6ACE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User → Intake Layer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r>
              <a:rPr lang="en-US" dirty="0"/>
              <a:t>“We begin on the far left with the </a:t>
            </a:r>
            <a:r>
              <a:rPr lang="en-US" b="1" dirty="0"/>
              <a:t>user</a:t>
            </a:r>
            <a:r>
              <a:rPr lang="en-US" dirty="0"/>
              <a:t>, usually an analyst, engineer, or mission SME.</a:t>
            </a:r>
          </a:p>
          <a:p>
            <a:r>
              <a:rPr lang="en-US" dirty="0"/>
              <a:t>Their interaction with the system starts by </a:t>
            </a:r>
            <a:r>
              <a:rPr lang="en-US" b="1" dirty="0"/>
              <a:t>uploading documents</a:t>
            </a:r>
            <a:r>
              <a:rPr lang="en-US" dirty="0"/>
              <a:t>, </a:t>
            </a:r>
          </a:p>
          <a:p>
            <a:r>
              <a:rPr lang="en-US" dirty="0"/>
              <a:t>which can be:</a:t>
            </a:r>
          </a:p>
          <a:p>
            <a:pPr lvl="1"/>
            <a:r>
              <a:rPr lang="en-US" dirty="0"/>
              <a:t>mission need statements</a:t>
            </a:r>
          </a:p>
          <a:p>
            <a:pPr lvl="1"/>
            <a:r>
              <a:rPr lang="en-US" dirty="0"/>
              <a:t>requirements documents</a:t>
            </a:r>
          </a:p>
          <a:p>
            <a:pPr lvl="1"/>
            <a:r>
              <a:rPr lang="en-US" dirty="0"/>
              <a:t>program artifacts</a:t>
            </a:r>
          </a:p>
          <a:p>
            <a:pPr lvl="1"/>
            <a:r>
              <a:rPr lang="en-US" dirty="0"/>
              <a:t>operational concepts</a:t>
            </a:r>
          </a:p>
          <a:p>
            <a:pPr lvl="1"/>
            <a:r>
              <a:rPr lang="en-US" dirty="0"/>
              <a:t>system descriptions</a:t>
            </a:r>
          </a:p>
          <a:p>
            <a:pPr lvl="1"/>
            <a:r>
              <a:rPr lang="en-US" dirty="0"/>
              <a:t>doctrine publications</a:t>
            </a:r>
          </a:p>
          <a:p>
            <a:pPr lvl="1"/>
            <a:r>
              <a:rPr lang="en-US" dirty="0"/>
              <a:t>threat reports</a:t>
            </a:r>
          </a:p>
          <a:p>
            <a:pPr lvl="1"/>
            <a:r>
              <a:rPr lang="en-US" dirty="0"/>
              <a:t>or any PDF/Word/text sources relevant to architecture development.”</a:t>
            </a:r>
          </a:p>
          <a:p>
            <a:endParaRPr lang="en-US" dirty="0"/>
          </a:p>
          <a:p>
            <a:r>
              <a:rPr lang="en-US" b="1" dirty="0"/>
              <a:t> Document Intake Agent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“These files hit the </a:t>
            </a:r>
            <a:r>
              <a:rPr lang="en-US" b="1" dirty="0"/>
              <a:t>Document Intake Agent</a:t>
            </a:r>
            <a:r>
              <a:rPr lang="en-US" dirty="0"/>
              <a:t>, which performs three critical actions:</a:t>
            </a:r>
          </a:p>
          <a:p>
            <a:pPr lvl="1"/>
            <a:r>
              <a:rPr lang="en-US" b="1" dirty="0"/>
              <a:t>Listens for uploads</a:t>
            </a:r>
            <a:endParaRPr lang="en-US" dirty="0"/>
          </a:p>
          <a:p>
            <a:pPr lvl="1"/>
            <a:r>
              <a:rPr lang="en-US" b="1" dirty="0"/>
              <a:t>Places documents into S3/</a:t>
            </a:r>
            <a:r>
              <a:rPr lang="en-US" b="1" dirty="0" err="1"/>
              <a:t>MinIO</a:t>
            </a:r>
            <a:r>
              <a:rPr lang="en-US" b="1" dirty="0"/>
              <a:t> storage</a:t>
            </a:r>
            <a:endParaRPr lang="en-US" dirty="0"/>
          </a:p>
          <a:p>
            <a:pPr lvl="1"/>
            <a:r>
              <a:rPr lang="en-US" b="1" dirty="0"/>
              <a:t>Sends a pipeline trigger event to Kafka/</a:t>
            </a:r>
            <a:r>
              <a:rPr lang="en-US" b="1" dirty="0" err="1"/>
              <a:t>Redpanda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event is what officially starts </a:t>
            </a:r>
            <a:r>
              <a:rPr lang="en-US" b="1" dirty="0"/>
              <a:t>Stage-1</a:t>
            </a:r>
            <a:r>
              <a:rPr lang="en-US" dirty="0"/>
              <a:t> of the </a:t>
            </a:r>
            <a:r>
              <a:rPr lang="en-US" dirty="0" err="1"/>
              <a:t>DoDAF</a:t>
            </a:r>
            <a:r>
              <a:rPr lang="en-US" dirty="0"/>
              <a:t> 2.0 pipeline.”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C20BE-B91F-931C-59D3-5128840B1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37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Stage 1 – Identify Intended Use / F2P Gate</a:t>
            </a:r>
          </a:p>
          <a:p>
            <a:endParaRPr lang="en-US" dirty="0"/>
          </a:p>
          <a:p>
            <a:r>
              <a:rPr lang="en-US" dirty="0"/>
              <a:t>“Stage-1 is the </a:t>
            </a:r>
            <a:r>
              <a:rPr lang="en-US" b="1" dirty="0"/>
              <a:t>Identify Intended Use</a:t>
            </a:r>
            <a:r>
              <a:rPr lang="en-US" dirty="0"/>
              <a:t> step — also known as the </a:t>
            </a:r>
            <a:r>
              <a:rPr lang="en-US" b="1" dirty="0"/>
              <a:t>Fit-for-Purpose Gate</a:t>
            </a:r>
            <a:r>
              <a:rPr lang="en-US" dirty="0"/>
              <a:t>, or F2P Gate.</a:t>
            </a:r>
          </a:p>
          <a:p>
            <a:r>
              <a:rPr lang="en-US" dirty="0"/>
              <a:t>This is one of the most critical parts of the entire </a:t>
            </a:r>
            <a:r>
              <a:rPr lang="en-US" dirty="0" err="1"/>
              <a:t>DoW</a:t>
            </a:r>
            <a:r>
              <a:rPr lang="en-US" dirty="0"/>
              <a:t> agentic pipeline, because this stage determines </a:t>
            </a:r>
            <a:r>
              <a:rPr lang="en-US" i="1" dirty="0"/>
              <a:t>whether</a:t>
            </a:r>
            <a:r>
              <a:rPr lang="en-US" dirty="0"/>
              <a:t> and </a:t>
            </a:r>
            <a:r>
              <a:rPr lang="en-US" i="1" dirty="0"/>
              <a:t>how</a:t>
            </a:r>
            <a:r>
              <a:rPr lang="en-US" dirty="0"/>
              <a:t> the system will proceed with the remaining </a:t>
            </a:r>
            <a:r>
              <a:rPr lang="en-US" dirty="0" err="1"/>
              <a:t>DoDAF</a:t>
            </a:r>
            <a:r>
              <a:rPr lang="en-US" dirty="0"/>
              <a:t> stages.</a:t>
            </a:r>
          </a:p>
          <a:p>
            <a:endParaRPr lang="en-US" dirty="0"/>
          </a:p>
          <a:p>
            <a:r>
              <a:rPr lang="en-US" dirty="0"/>
              <a:t>When a document enters Stage-1, the system performs several functions: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First</a:t>
            </a:r>
            <a:r>
              <a:rPr lang="en-US" dirty="0"/>
              <a:t>, it evaluates whether the input is </a:t>
            </a:r>
            <a:r>
              <a:rPr lang="en-US" b="1" dirty="0"/>
              <a:t>fit for processing</a:t>
            </a:r>
            <a:r>
              <a:rPr lang="en-US" dirty="0"/>
              <a:t>.</a:t>
            </a:r>
          </a:p>
          <a:p>
            <a:r>
              <a:rPr lang="en-US" dirty="0"/>
              <a:t>Not all documents need a full six-stage </a:t>
            </a:r>
            <a:r>
              <a:rPr lang="en-US" dirty="0" err="1"/>
              <a:t>DoDAF</a:t>
            </a:r>
            <a:r>
              <a:rPr lang="en-US" dirty="0"/>
              <a:t> treatment — for example, a Standards document may not require OV or SV modeling.</a:t>
            </a:r>
          </a:p>
          <a:p>
            <a:r>
              <a:rPr lang="en-US" dirty="0"/>
              <a:t>Stage-1 ensures we’re not running unnecessary stages, and that only valid, well-formed documents move forward.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Second</a:t>
            </a:r>
            <a:r>
              <a:rPr lang="en-US" dirty="0"/>
              <a:t>, Stage-1 identifies the </a:t>
            </a:r>
            <a:r>
              <a:rPr lang="en-US" b="1" dirty="0"/>
              <a:t>scope</a:t>
            </a:r>
            <a:r>
              <a:rPr lang="en-US" dirty="0"/>
              <a:t>, the </a:t>
            </a:r>
            <a:r>
              <a:rPr lang="en-US" b="1" dirty="0"/>
              <a:t>constraints</a:t>
            </a:r>
            <a:r>
              <a:rPr lang="en-US" dirty="0"/>
              <a:t>, and the </a:t>
            </a:r>
            <a:r>
              <a:rPr lang="en-US" b="1" dirty="0"/>
              <a:t>intended purpose</a:t>
            </a:r>
            <a:r>
              <a:rPr lang="en-US" dirty="0"/>
              <a:t> of the incoming material.</a:t>
            </a:r>
          </a:p>
          <a:p>
            <a:r>
              <a:rPr lang="en-US" dirty="0"/>
              <a:t>This includes assessing whether the document is an ICD, CONOPS, OV-based architecture input, or any of the other mission or capability artifacts.</a:t>
            </a:r>
          </a:p>
          <a:p>
            <a:r>
              <a:rPr lang="en-US" dirty="0"/>
              <a:t>The agents extract meta-information about what the document represents and what it aims to accomplish.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Third</a:t>
            </a:r>
            <a:r>
              <a:rPr lang="en-US" dirty="0"/>
              <a:t>, the system evaluates the </a:t>
            </a:r>
            <a:r>
              <a:rPr lang="en-US" b="1" dirty="0"/>
              <a:t>document type and routing</a:t>
            </a:r>
            <a:r>
              <a:rPr lang="en-US" dirty="0"/>
              <a:t>.</a:t>
            </a:r>
          </a:p>
          <a:p>
            <a:r>
              <a:rPr lang="en-US" dirty="0"/>
              <a:t>Different document types trigger different logic paths — for example, an ICD will require full OV, SV, and PV analysis, while a brief O&amp;O document might skip some stages.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So in summary, Stage-1 is the intelligent ‘front door’ of the pipeline:</a:t>
            </a:r>
          </a:p>
          <a:p>
            <a:r>
              <a:rPr lang="en-US" dirty="0"/>
              <a:t>it validates the input, determines intent, and charts the precise processing path for Stages 2 through 6.”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78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Stage-2 is where the pipeline begins generating the Initial Capabilities Document (ICD) structure and defining the architectural scope.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Stage-1 focused on determining intent and routing, Stage-2 focuses on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framing the problem space and establishing architectural boundaries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an input passes the Fit-for-Purpose gate, Stage-2 analyzes the content to determine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capability area, mission context, and system domain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involved.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includes identifying: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capability being addressed,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stakeholders,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operational context,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breadth of architecture that must be covered.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Stage-2 also establishes the constraints that shape the architecture.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may include technical limitations, mission timelines, interoperability requirements, and relevant policy or standards references identified in the input artifacts.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key outcome of Stage-2 is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shaping of the ICD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agents populate the early structural sections of the document, including: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high-level purpose,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capability gaps,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mission context,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stakeholder groupings,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scope statement.</a:t>
            </a:r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creates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architectural foundation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later stages — Operational Views, System and Services Views, and Performance and Standards Views — progressively enrich.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Stage-2 determines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depth of architectural analysis required downstream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a document with system-level detail will require deeper SV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SvcV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modeling in Stage-4, while a mission-focused input may emphasize operational analysis in Stage-3.</a:t>
            </a:r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Stage-2 takes us from intent to structure.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establishes the architectural frame, initializes the ICD baseline, and defines exactly what the downstream stages need to analyze — without unnecessary processing.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57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Stage-3 is where the pipeline shifts from architectural framing into operational understanding.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this stage, the focus is on capturing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the mission operates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independent of systems or technology.</a:t>
            </a:r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Stage-3 is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and structure all operational data required to accurately represent the mission context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includes extracting: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activities and tasks,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mission flows and sequences,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performers such as units, roles, or organizations,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interactions between them.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agents analyze the document narrative and any extracted text from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identify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OV-related elements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such as those associated with OV-2, OV-5, and OV-6, depending on what information is present.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when these elements are not explicitly labeled, the agents infer them using language patterns, standardized task structures, and established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DoDAF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conventions.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key distinction in Stage-3 is that it operates on structured architectural facts, not unstructured knowledge.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Database-layer agents may query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DM2 graph store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 relational tables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validate performer names, link activities, infer relationships, or fill gaps using authoritative DoD-aligned data.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outputs of Stage-3 form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backbone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subsequent stages.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the tasks and performers identified here become inputs for system allocation and correlation in Stage-4, and for performance and standards analysis in Stage-5.</a:t>
            </a:r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Stage-3 establishes the mission-level architectural foundation.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identifies the operational elements, behaviors, and relationships required to understand how the mission works — before any systems or technologies are introduced.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33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Stage-4 is where the pipeline transitions from the operational domain into the systems and services domain.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on the operational data produced in Stage-3, this stage establishes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and Services Viewpoints (SV /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SvcV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Stage-4 is to determine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systems and services exist, how they interact, and how they support the operational activities identified earlier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agents analyze the extracted document content to identify: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 and subsystems,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platforms and components,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 and service interfaces,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functions and capabilities,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system-to-system or service-to-service interactions.</a:t>
            </a:r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Stage-4 is strongly DM2-driven.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Database-layer agents query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Neo4j DM2 Graph Store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 relational model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validate system and service names, map operational tasks to system functions, and confirm interfaces that already exist in authoritative DoD architecture repositories.</a:t>
            </a:r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key function of Stage-4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inventing architecture, this stage links systems and services back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performers and activities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established in Stage-3.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if Stage-3 defined an operational task such as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Identification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Stage-4 determines which systems or services perform that task and what interfaces or data exchanges are involved.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Stage-4 also establishes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backbone for downstream modeling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SV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SvcV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produced here is later used to generate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SysML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UML artifacts in tools such as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IBM Rhapsody and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PlantUML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including: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block diagrams,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descriptions,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interaction flows,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allocations.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Stage-4 is where the architecture becomes concrete.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grounds mission-level understanding in real systems, services, and interfaces, establishing a validated SV /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SvcV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for analysis and presentation.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4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Stage-5 is where the architecture is analyzed through the lens of performance, measures, and standards.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Stage-3 established the operational picture and Stage-4 defined the system and service architecture, Stage-5 determines whether the architecture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effective, compliant, and aligned with required performance objectives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stage focuses on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Viewpoint (PV)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Standards Viewpoint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StdV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views that define the technical, regulatory, and performance environment surrounding the architecture.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agents begin by identifying: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measures and metrics,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required technical standards,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 and regulatory constraints,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readiness or availability thresholds,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 requirements,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mandatory DoD specifications referenced in the source material.</a:t>
            </a:r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Stage-5 draws from multiple sources, including: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extracted content from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curated knowledge from the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Retriever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architectural data validated through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DM2 graph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 relational tables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value of Stage-5 is correlation and analysis.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measures and standards are linked back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systems, services, and operational tasks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identified in earlier stages.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if the architecture includes a communications subsystem, Stage-5 evaluates whether it must conform to specific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MIL-STDs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security overlays, timing constraints, or data format standards.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agents also identify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policy-driven constraints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such as interoperability mandates, IA/Cyber requirements, or required compliance thresholds.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outcome of Stage-5 is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comprehensive PV /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StdV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captures: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required performance characteristics,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enforced standards and policies,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constraints that shape system behavior.</a:t>
            </a:r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Stage-5 ensures the architecture is not only structurally sound, but also measurable, compliant, and aligned with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DoDAF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performance and standards objectives.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58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Stage-6 is the final stage of the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agentic pipeline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where all structured outputs from the previous stages are brought together into the final architecture products.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stage is responsible for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assembling, formatting, and producing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DoDAF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-compliant deliverables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primarily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Capabilities Document (ICD)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Fit-for-Purpose (F2P) Summary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orchestrator retrieves stage outputs from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 transaction tables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pulls diagrams from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PlantUML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renderings and IBM Rhapsody exports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merges everything into governed document templates.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assembly includes: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executive summary,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capability needs and gaps,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context,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and service architecture,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and standards overlays,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traceability across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OV, SV,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SvcV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PV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viewpoints.</a:t>
            </a:r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Stage-6 embeds all diagrams generated earlier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including: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flows from OV analysis,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and interface models from SV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SvcV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and standards diagrams from PV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StdV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SysML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artifacts produced by Rhapsody.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finalization, the pipeline performs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and governance checks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ensure the ICD structure is complete, all placeholders are populated, and required sections are present and consistent.</a:t>
            </a:r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Stage-6 publishes the completed documents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/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making them available to users through the console for review, submission, or downstream use.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Stage-6 transforms all agent outputs into polished, governed,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DoDAF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-compliant deliverables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completing the end-to-end architecture generation process in a traceable and reproducible manner.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54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b="1" dirty="0" err="1"/>
              <a:t>DoW</a:t>
            </a:r>
            <a:r>
              <a:rPr lang="en-US" b="1" dirty="0"/>
              <a:t> Retriever (Knowledge Retrieval Layer)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“On the upper right is the </a:t>
            </a:r>
            <a:r>
              <a:rPr lang="en-US" b="1" dirty="0" err="1"/>
              <a:t>DoW</a:t>
            </a:r>
            <a:r>
              <a:rPr lang="en-US" b="1" dirty="0"/>
              <a:t> Retriever</a:t>
            </a:r>
            <a:r>
              <a:rPr lang="en-US" dirty="0"/>
              <a:t>.</a:t>
            </a:r>
          </a:p>
          <a:p>
            <a:r>
              <a:rPr lang="en-US" dirty="0"/>
              <a:t>This component is important, but narrowly scoped:</a:t>
            </a:r>
          </a:p>
          <a:p>
            <a:r>
              <a:rPr lang="en-US" dirty="0"/>
              <a:t>It retrieves </a:t>
            </a:r>
            <a:r>
              <a:rPr lang="en-US" b="1" dirty="0"/>
              <a:t>textual knowledge only</a:t>
            </a:r>
            <a:endParaRPr lang="en-US" dirty="0"/>
          </a:p>
          <a:p>
            <a:r>
              <a:rPr lang="en-US" dirty="0"/>
              <a:t>Not structured DM2 data</a:t>
            </a:r>
          </a:p>
          <a:p>
            <a:r>
              <a:rPr lang="en-US" dirty="0"/>
              <a:t>And not database records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queries </a:t>
            </a:r>
            <a:r>
              <a:rPr lang="en-US" b="1" dirty="0"/>
              <a:t>knowledge sources</a:t>
            </a:r>
            <a:r>
              <a:rPr lang="en-US" dirty="0"/>
              <a:t>, such as doctrine text, reports, historical references, SME notes, and extracted material, then returns </a:t>
            </a:r>
            <a:r>
              <a:rPr lang="en-US" b="1" dirty="0"/>
              <a:t>normalized knowledge chunks with provenance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25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3CAC8-A941-1527-B3A4-21F15436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25D3C-3CD2-3001-D4ED-D48A74CAC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1A63F-4B44-CA12-1D06-952D77BFC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Rules engine: 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“Drools is our </a:t>
            </a:r>
            <a:r>
              <a:rPr lang="en-US" b="1" dirty="0"/>
              <a:t>governance backbone</a:t>
            </a:r>
            <a:r>
              <a:rPr lang="en-US" dirty="0"/>
              <a:t> in the </a:t>
            </a:r>
            <a:r>
              <a:rPr lang="en-US" dirty="0" err="1"/>
              <a:t>DoW</a:t>
            </a:r>
            <a:r>
              <a:rPr lang="en-US" dirty="0"/>
              <a:t> agentic architecture.</a:t>
            </a:r>
          </a:p>
          <a:p>
            <a:r>
              <a:rPr lang="en-US" dirty="0"/>
              <a:t>While the agents generate content, Drools ensures we remain consistent, compliant, and deterministic throughout the entire process.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most important application of Drools is in </a:t>
            </a:r>
            <a:r>
              <a:rPr lang="en-US" b="1" dirty="0"/>
              <a:t>Stage-1</a:t>
            </a:r>
            <a:r>
              <a:rPr lang="en-US" dirty="0"/>
              <a:t>, where we run the Fit-for-Purpose gate. Here Drools evaluates document type, mission context, intended use to determine whether the document is valid for processing.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But Drools is not limited to Stage-1.</a:t>
            </a:r>
          </a:p>
          <a:p>
            <a:r>
              <a:rPr lang="en-US" dirty="0"/>
              <a:t>Throughout the pipeline, agent outputs may be checked against rule sets that enforce </a:t>
            </a:r>
            <a:r>
              <a:rPr lang="en-US" dirty="0" err="1"/>
              <a:t>DoDAF</a:t>
            </a:r>
            <a:r>
              <a:rPr lang="en-US" dirty="0"/>
              <a:t> architectural constraints — for example ensuring that operational activities map to performers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4FE02-A082-3969-7E0C-3CE94DC8D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45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we move into the </a:t>
            </a:r>
            <a:r>
              <a:rPr lang="en-US" b="1" dirty="0"/>
              <a:t>Report Generation Process</a:t>
            </a:r>
            <a:r>
              <a:rPr lang="en-US" dirty="0"/>
              <a:t>, which is the final assembly step that occurs after Stage-6.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This part of the pipeline brings together everything we collected, analyzed, modeled, and generated across all previous stages.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Report Assembly Agents operate as a coordinated set of workers:</a:t>
            </a:r>
          </a:p>
          <a:p>
            <a:r>
              <a:rPr lang="en-US" dirty="0"/>
              <a:t>The </a:t>
            </a:r>
            <a:r>
              <a:rPr lang="en-US" b="1" dirty="0"/>
              <a:t>ICD Composer</a:t>
            </a:r>
            <a:r>
              <a:rPr lang="en-US" dirty="0"/>
              <a:t> retrieves structured outputs from the </a:t>
            </a:r>
            <a:r>
              <a:rPr lang="en-US" i="1" dirty="0" err="1"/>
              <a:t>dodaf_se</a:t>
            </a:r>
            <a:r>
              <a:rPr lang="en-US" dirty="0"/>
              <a:t> schema in PostgreSQL — this includes findings, stage outputs, and all curated content the agents produced.</a:t>
            </a:r>
          </a:p>
          <a:p>
            <a:r>
              <a:rPr lang="en-US" dirty="0"/>
              <a:t>The system simultaneously queries the </a:t>
            </a:r>
            <a:r>
              <a:rPr lang="en-US" b="1" dirty="0"/>
              <a:t>Authoritative DM2 Model</a:t>
            </a:r>
            <a:r>
              <a:rPr lang="en-US" dirty="0"/>
              <a:t> from the </a:t>
            </a:r>
            <a:r>
              <a:rPr lang="en-US" i="1" dirty="0" err="1"/>
              <a:t>adr</a:t>
            </a:r>
            <a:r>
              <a:rPr lang="en-US" dirty="0"/>
              <a:t> database, ensuring that all models, entities, and relationships are consistent with </a:t>
            </a:r>
            <a:r>
              <a:rPr lang="en-US" dirty="0" err="1"/>
              <a:t>DoDAF</a:t>
            </a:r>
            <a:r>
              <a:rPr lang="en-US" dirty="0"/>
              <a:t> DM2 semantics.</a:t>
            </a:r>
          </a:p>
          <a:p>
            <a:r>
              <a:rPr lang="en-US" dirty="0"/>
              <a:t>The </a:t>
            </a:r>
            <a:r>
              <a:rPr lang="en-US" b="1" dirty="0"/>
              <a:t>Diagram Merge Agent</a:t>
            </a:r>
            <a:r>
              <a:rPr lang="en-US" dirty="0"/>
              <a:t> fetches all diagrams from the </a:t>
            </a:r>
            <a:r>
              <a:rPr lang="en-US" dirty="0" err="1"/>
              <a:t>PlantUML</a:t>
            </a:r>
            <a:r>
              <a:rPr lang="en-US" dirty="0"/>
              <a:t> renderer — OV, SV/</a:t>
            </a:r>
            <a:r>
              <a:rPr lang="en-US" dirty="0" err="1"/>
              <a:t>SvcV</a:t>
            </a:r>
            <a:r>
              <a:rPr lang="en-US" dirty="0"/>
              <a:t>, PV/</a:t>
            </a:r>
            <a:r>
              <a:rPr lang="en-US" dirty="0" err="1"/>
              <a:t>StdV</a:t>
            </a:r>
            <a:r>
              <a:rPr lang="en-US" dirty="0"/>
              <a:t> — along with any </a:t>
            </a:r>
            <a:r>
              <a:rPr lang="en-US" dirty="0" err="1"/>
              <a:t>SysML</a:t>
            </a:r>
            <a:r>
              <a:rPr lang="en-US" dirty="0"/>
              <a:t> diagrams coming from Rhapsody.</a:t>
            </a:r>
          </a:p>
          <a:p>
            <a:r>
              <a:rPr lang="en-US" dirty="0"/>
              <a:t>The </a:t>
            </a:r>
            <a:r>
              <a:rPr lang="en-US" b="1" dirty="0"/>
              <a:t>Narrative Builder</a:t>
            </a:r>
            <a:r>
              <a:rPr lang="en-US" dirty="0"/>
              <a:t> assembles multi-agent text contributions into coherent, human-readable sections.</a:t>
            </a:r>
          </a:p>
          <a:p>
            <a:r>
              <a:rPr lang="en-US" dirty="0"/>
              <a:t>And finally, the </a:t>
            </a:r>
            <a:r>
              <a:rPr lang="en-US" b="1" dirty="0"/>
              <a:t>Summary Writer</a:t>
            </a:r>
            <a:r>
              <a:rPr lang="en-US" dirty="0"/>
              <a:t> creates the Fit-for-Purpose Summary, which distills only the mission-relevant insights for senior stakeholders.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Once all components are gathered, the pipeline applies the </a:t>
            </a:r>
            <a:r>
              <a:rPr lang="en-US" b="1" dirty="0"/>
              <a:t>ICD and Summary DOCX templates</a:t>
            </a:r>
            <a:r>
              <a:rPr lang="en-US" dirty="0"/>
              <a:t>, injecting content into each placeholder.</a:t>
            </a:r>
          </a:p>
          <a:p>
            <a:r>
              <a:rPr lang="en-US" dirty="0"/>
              <a:t>This ensures a consistent </a:t>
            </a:r>
            <a:r>
              <a:rPr lang="en-US" dirty="0" err="1"/>
              <a:t>DoDAF</a:t>
            </a:r>
            <a:r>
              <a:rPr lang="en-US" dirty="0"/>
              <a:t> structure:</a:t>
            </a:r>
          </a:p>
          <a:p>
            <a:r>
              <a:rPr lang="en-US" dirty="0"/>
              <a:t>Executive Summary</a:t>
            </a:r>
          </a:p>
          <a:p>
            <a:r>
              <a:rPr lang="en-US" dirty="0"/>
              <a:t>Capability Needs</a:t>
            </a:r>
          </a:p>
          <a:p>
            <a:r>
              <a:rPr lang="en-US" dirty="0"/>
              <a:t>Operational Context</a:t>
            </a:r>
          </a:p>
          <a:p>
            <a:r>
              <a:rPr lang="en-US" dirty="0"/>
              <a:t>System Architecture</a:t>
            </a:r>
          </a:p>
          <a:p>
            <a:r>
              <a:rPr lang="en-US" dirty="0"/>
              <a:t>Performance + Standards</a:t>
            </a:r>
          </a:p>
          <a:p>
            <a:r>
              <a:rPr lang="en-US" dirty="0"/>
              <a:t>Traceability Sections</a:t>
            </a:r>
          </a:p>
          <a:p>
            <a:r>
              <a:rPr lang="en-US" dirty="0"/>
              <a:t>Embedded Diagrams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When the documents are fully constructed, the orchestrator runs a validation pass to confirm completeness, correct section ordering, and template integrity.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final ICD and F2P Summary documents — along with all diagrams — are then uploaded to </a:t>
            </a:r>
            <a:r>
              <a:rPr lang="en-US" b="1" dirty="0"/>
              <a:t>S3</a:t>
            </a:r>
            <a:r>
              <a:rPr lang="en-US" dirty="0"/>
              <a:t>, where they appear in the console for the user.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In short, this process turns a large set of agent outputs, graphs, templates, diagrams, and DM2 entities into </a:t>
            </a:r>
            <a:r>
              <a:rPr lang="en-US" b="1" dirty="0"/>
              <a:t>polished, governed, repeatable </a:t>
            </a:r>
            <a:r>
              <a:rPr lang="en-US" b="1" dirty="0" err="1"/>
              <a:t>DoDAF</a:t>
            </a:r>
            <a:r>
              <a:rPr lang="en-US" b="1" dirty="0"/>
              <a:t> deliverables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2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D89A-00B1-F2A1-768E-3BDA4D0C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45E1A-DD7D-445D-18B0-5498801C6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2EB63-CAD3-363A-8176-56CC48546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Purpose:</a:t>
            </a:r>
            <a:endParaRPr lang="en-US" dirty="0"/>
          </a:p>
          <a:p>
            <a:r>
              <a:rPr lang="en-US" dirty="0"/>
              <a:t>This slide summarizes </a:t>
            </a:r>
            <a:r>
              <a:rPr lang="en-US" i="1" dirty="0"/>
              <a:t>what each stage produces</a:t>
            </a:r>
            <a:r>
              <a:rPr lang="en-US" dirty="0"/>
              <a:t>, </a:t>
            </a:r>
            <a:r>
              <a:rPr lang="en-US" i="1" dirty="0"/>
              <a:t>which </a:t>
            </a:r>
            <a:r>
              <a:rPr lang="en-US" i="1" dirty="0" err="1"/>
              <a:t>DoDAF</a:t>
            </a:r>
            <a:r>
              <a:rPr lang="en-US" i="1" dirty="0"/>
              <a:t> views are generated or informed</a:t>
            </a:r>
            <a:r>
              <a:rPr lang="en-US" dirty="0"/>
              <a:t>, and </a:t>
            </a:r>
            <a:r>
              <a:rPr lang="en-US" i="1" dirty="0"/>
              <a:t>how each contributes to the final ICD and F2P Summary outputs.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slide summarizes which </a:t>
            </a:r>
            <a:r>
              <a:rPr lang="en-US" dirty="0" err="1"/>
              <a:t>DoDAF</a:t>
            </a:r>
            <a:r>
              <a:rPr lang="en-US" dirty="0"/>
              <a:t> views are produced at each stage of the agentic pipeline and how they ultimately feed into the final ICD and F2P Summary. Stages 2–5 generate the full architecture set — capability, operational, system/service, and performance/standards views — while Stage-6 assembles those into user-ready </a:t>
            </a:r>
            <a:r>
              <a:rPr lang="en-US" dirty="0" err="1"/>
              <a:t>DoDAF</a:t>
            </a:r>
            <a:r>
              <a:rPr lang="en-US" dirty="0"/>
              <a:t>-compliant reports. In short, every stage contributes a specific portion of the architecture, and together they produce the complete </a:t>
            </a:r>
            <a:r>
              <a:rPr lang="en-US" b="1" dirty="0" err="1"/>
              <a:t>JOBID_ICD.docx</a:t>
            </a:r>
            <a:r>
              <a:rPr lang="en-US" dirty="0"/>
              <a:t> and </a:t>
            </a:r>
            <a:r>
              <a:rPr lang="en-US" b="1" dirty="0"/>
              <a:t>JOBID_F2P_Summary.docx</a:t>
            </a:r>
            <a:r>
              <a:rPr lang="en-US" dirty="0"/>
              <a:t> deliverables.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Stage-1 — Identify Intended Use (F2P Gate)</a:t>
            </a:r>
          </a:p>
          <a:p>
            <a:r>
              <a:rPr lang="en-US" dirty="0"/>
              <a:t>Stage-1 is strictly a </a:t>
            </a:r>
            <a:r>
              <a:rPr lang="en-US" b="1" dirty="0"/>
              <a:t>gatekeeping stage</a:t>
            </a:r>
            <a:r>
              <a:rPr lang="en-US" dirty="0"/>
              <a:t>.</a:t>
            </a:r>
          </a:p>
          <a:p>
            <a:r>
              <a:rPr lang="en-US" dirty="0"/>
              <a:t>No </a:t>
            </a:r>
            <a:r>
              <a:rPr lang="en-US" dirty="0" err="1"/>
              <a:t>DoDAF</a:t>
            </a:r>
            <a:r>
              <a:rPr lang="en-US" dirty="0"/>
              <a:t> views are produced here; instead we classify the document, determine Fit-for-Purpose, and generate a </a:t>
            </a:r>
            <a:r>
              <a:rPr lang="en-US" b="1" dirty="0"/>
              <a:t>routing manifest</a:t>
            </a:r>
            <a:r>
              <a:rPr lang="en-US" dirty="0"/>
              <a:t>.</a:t>
            </a:r>
          </a:p>
          <a:p>
            <a:r>
              <a:rPr lang="en-US" dirty="0"/>
              <a:t>The output guides downstream stages by telling them </a:t>
            </a:r>
            <a:r>
              <a:rPr lang="en-US" i="1" dirty="0"/>
              <a:t>which views to generate</a:t>
            </a:r>
            <a:r>
              <a:rPr lang="en-US" dirty="0"/>
              <a:t> and </a:t>
            </a:r>
            <a:r>
              <a:rPr lang="en-US" i="1" dirty="0"/>
              <a:t>what constraints apply</a:t>
            </a:r>
            <a:r>
              <a:rPr lang="en-US" dirty="0"/>
              <a:t>.</a:t>
            </a:r>
          </a:p>
          <a:p>
            <a:r>
              <a:rPr lang="en-US" dirty="0"/>
              <a:t>This stage ensures we don’t waste cycles on documents that shouldn’t enter the pipeline.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Stage-2 — Define Architecture Scope (ICD Framing)</a:t>
            </a:r>
          </a:p>
          <a:p>
            <a:r>
              <a:rPr lang="en-US" dirty="0"/>
              <a:t>Stage-2 starts shaping the </a:t>
            </a:r>
            <a:r>
              <a:rPr lang="en-US" b="1" dirty="0"/>
              <a:t>ICD foundation</a:t>
            </a:r>
            <a:r>
              <a:rPr lang="en-US" dirty="0"/>
              <a:t>.</a:t>
            </a:r>
          </a:p>
          <a:p>
            <a:r>
              <a:rPr lang="en-US" dirty="0"/>
              <a:t>The system identifies capability taxonomies, high-level missions, constraints, and stakeholders.</a:t>
            </a:r>
          </a:p>
          <a:p>
            <a:r>
              <a:rPr lang="en-US" dirty="0"/>
              <a:t>CV-1, CV-2, and CV-3 are </a:t>
            </a:r>
            <a:r>
              <a:rPr lang="en-US" i="1" dirty="0"/>
              <a:t>not</a:t>
            </a:r>
            <a:r>
              <a:rPr lang="en-US" dirty="0"/>
              <a:t> fully generated but the seeds are captured as structured text and can be exported if needed.</a:t>
            </a:r>
          </a:p>
          <a:p>
            <a:r>
              <a:rPr lang="en-US" dirty="0"/>
              <a:t>This stage populates </a:t>
            </a:r>
            <a:r>
              <a:rPr lang="en-US" b="1" dirty="0"/>
              <a:t>ICD Sections 1–2</a:t>
            </a:r>
            <a:r>
              <a:rPr lang="en-US" dirty="0"/>
              <a:t>, establishing the scope and intent of the architecture.</a:t>
            </a:r>
          </a:p>
          <a:p>
            <a:r>
              <a:rPr lang="en-US" dirty="0"/>
              <a:t>It provides the conceptual backbone needed before operational or system modeling.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Stage-3 — Operational Viewpoint Extraction (OV)</a:t>
            </a:r>
          </a:p>
          <a:p>
            <a:r>
              <a:rPr lang="en-US" dirty="0"/>
              <a:t>Stage-3 extracts </a:t>
            </a:r>
            <a:r>
              <a:rPr lang="en-US" b="1" dirty="0"/>
              <a:t>all operational architecture pieces</a:t>
            </a:r>
            <a:r>
              <a:rPr lang="en-US" dirty="0"/>
              <a:t>, such as activities, tasks, flows, performers, and interactions.</a:t>
            </a:r>
          </a:p>
          <a:p>
            <a:r>
              <a:rPr lang="en-US" dirty="0"/>
              <a:t>It generates OV-2, OV-3, OV-5a/b, and OV-6c models.</a:t>
            </a:r>
          </a:p>
          <a:p>
            <a:r>
              <a:rPr lang="en-US" dirty="0"/>
              <a:t>OV-1 can be generated via </a:t>
            </a:r>
            <a:r>
              <a:rPr lang="en-US" dirty="0" err="1"/>
              <a:t>PlantUML</a:t>
            </a:r>
            <a:r>
              <a:rPr lang="en-US" dirty="0"/>
              <a:t> </a:t>
            </a:r>
            <a:r>
              <a:rPr lang="en-US" b="1" dirty="0"/>
              <a:t>if a sufficient knowledge base exists</a:t>
            </a:r>
            <a:r>
              <a:rPr lang="en-US" dirty="0"/>
              <a:t>.</a:t>
            </a:r>
          </a:p>
          <a:p>
            <a:r>
              <a:rPr lang="en-US" dirty="0"/>
              <a:t>Stage-3 relies heavily on structured architecture data from the DM2 Graph Store and ADR relational model.</a:t>
            </a:r>
          </a:p>
          <a:p>
            <a:r>
              <a:rPr lang="en-US" dirty="0"/>
              <a:t>These outputs feed directly into the </a:t>
            </a:r>
            <a:r>
              <a:rPr lang="en-US" b="1" dirty="0"/>
              <a:t>ICD operational context</a:t>
            </a:r>
            <a:r>
              <a:rPr lang="en-US" dirty="0"/>
              <a:t>, mission threads, and capability gap analysis.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Stage-4 — System &amp; Service Viewpoint Modeling (SV/</a:t>
            </a:r>
            <a:r>
              <a:rPr lang="en-US" b="1" dirty="0" err="1"/>
              <a:t>SvcV</a:t>
            </a:r>
            <a:r>
              <a:rPr lang="en-US" b="1" dirty="0"/>
              <a:t>)</a:t>
            </a:r>
          </a:p>
          <a:p>
            <a:r>
              <a:rPr lang="en-US" dirty="0"/>
              <a:t>Stage-4 builds all the </a:t>
            </a:r>
            <a:r>
              <a:rPr lang="en-US" b="1" dirty="0"/>
              <a:t>system and service-level </a:t>
            </a:r>
            <a:r>
              <a:rPr lang="en-US" b="1" dirty="0" err="1"/>
              <a:t>DoDAF</a:t>
            </a:r>
            <a:r>
              <a:rPr lang="en-US" b="1" dirty="0"/>
              <a:t> views</a:t>
            </a:r>
            <a:r>
              <a:rPr lang="en-US" dirty="0"/>
              <a:t>.</a:t>
            </a:r>
          </a:p>
          <a:p>
            <a:r>
              <a:rPr lang="en-US" dirty="0"/>
              <a:t>SV-1, SV-2, SV-4, and their </a:t>
            </a:r>
            <a:r>
              <a:rPr lang="en-US" dirty="0" err="1"/>
              <a:t>SvcV</a:t>
            </a:r>
            <a:r>
              <a:rPr lang="en-US" dirty="0"/>
              <a:t> equivalents are generated here.</a:t>
            </a:r>
          </a:p>
          <a:p>
            <a:r>
              <a:rPr lang="en-US" b="1" dirty="0"/>
              <a:t>Allocations</a:t>
            </a:r>
            <a:r>
              <a:rPr lang="en-US" dirty="0"/>
              <a:t> are computed:</a:t>
            </a:r>
          </a:p>
          <a:p>
            <a:r>
              <a:rPr lang="en-US" dirty="0"/>
              <a:t>Operational activities → System functions</a:t>
            </a:r>
          </a:p>
          <a:p>
            <a:r>
              <a:rPr lang="en-US" dirty="0"/>
              <a:t>System functions → System nodes</a:t>
            </a:r>
          </a:p>
          <a:p>
            <a:r>
              <a:rPr lang="en-US" dirty="0"/>
              <a:t>Interfaces and resource flows confirmed</a:t>
            </a:r>
          </a:p>
          <a:p>
            <a:r>
              <a:rPr lang="en-US" dirty="0"/>
              <a:t>Rhapsody </a:t>
            </a:r>
            <a:r>
              <a:rPr lang="en-US" dirty="0" err="1"/>
              <a:t>SysML</a:t>
            </a:r>
            <a:r>
              <a:rPr lang="en-US" dirty="0"/>
              <a:t> exports are created here as well.</a:t>
            </a:r>
          </a:p>
          <a:p>
            <a:r>
              <a:rPr lang="en-US" dirty="0"/>
              <a:t>These outputs form the </a:t>
            </a:r>
            <a:r>
              <a:rPr lang="en-US" b="1" dirty="0"/>
              <a:t>technical architecture sections of the ICD</a:t>
            </a:r>
            <a:r>
              <a:rPr lang="en-US" dirty="0"/>
              <a:t>, including diagrams and system/service descriptions.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Stage-5 — Performance / Standards (PV/</a:t>
            </a:r>
            <a:r>
              <a:rPr lang="en-US" b="1" dirty="0" err="1"/>
              <a:t>StdV</a:t>
            </a:r>
            <a:r>
              <a:rPr lang="en-US" b="1" dirty="0"/>
              <a:t>)</a:t>
            </a:r>
          </a:p>
          <a:p>
            <a:r>
              <a:rPr lang="en-US" dirty="0"/>
              <a:t>Stage-5 analyzes performance constraints and applicable standards.</a:t>
            </a:r>
          </a:p>
          <a:p>
            <a:r>
              <a:rPr lang="en-US" dirty="0"/>
              <a:t>It generates PV-1, PV-2, StdV-1, and StdV-2 equivalents.</a:t>
            </a:r>
          </a:p>
          <a:p>
            <a:r>
              <a:rPr lang="en-US" dirty="0"/>
              <a:t>These include quantitative parameters, compliance requirements, and technical standards.</a:t>
            </a:r>
          </a:p>
          <a:p>
            <a:r>
              <a:rPr lang="en-US" dirty="0"/>
              <a:t>These outputs populate the </a:t>
            </a:r>
            <a:r>
              <a:rPr lang="en-US" b="1" dirty="0"/>
              <a:t>ICD KPP/KSA sections</a:t>
            </a:r>
            <a:r>
              <a:rPr lang="en-US" dirty="0"/>
              <a:t>, constraints, and any externally imposed requirements.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Stage-6 — Present Results / Document Assembly</a:t>
            </a:r>
          </a:p>
          <a:p>
            <a:r>
              <a:rPr lang="en-US" dirty="0"/>
              <a:t>Stage-6 does not create new </a:t>
            </a:r>
            <a:r>
              <a:rPr lang="en-US" dirty="0" err="1"/>
              <a:t>DoDAF</a:t>
            </a:r>
            <a:r>
              <a:rPr lang="en-US" dirty="0"/>
              <a:t> views.</a:t>
            </a:r>
          </a:p>
          <a:p>
            <a:r>
              <a:rPr lang="en-US" dirty="0"/>
              <a:t>Instead, it merges outputs from Stages 1–5 into the final deliverables:</a:t>
            </a:r>
          </a:p>
          <a:p>
            <a:r>
              <a:rPr lang="en-US" b="1" dirty="0" err="1"/>
              <a:t>JOBID_ICD.docx</a:t>
            </a:r>
            <a:endParaRPr lang="en-US" dirty="0"/>
          </a:p>
          <a:p>
            <a:r>
              <a:rPr lang="en-US" b="1" dirty="0"/>
              <a:t>JOBID_F2P_Summary.docx</a:t>
            </a:r>
            <a:endParaRPr lang="en-US" dirty="0"/>
          </a:p>
          <a:p>
            <a:r>
              <a:rPr lang="en-US" dirty="0"/>
              <a:t>It pulls diagrams from </a:t>
            </a:r>
            <a:r>
              <a:rPr lang="en-US" dirty="0" err="1"/>
              <a:t>PlantUML</a:t>
            </a:r>
            <a:r>
              <a:rPr lang="en-US" dirty="0"/>
              <a:t>, </a:t>
            </a:r>
            <a:r>
              <a:rPr lang="en-US" dirty="0" err="1"/>
              <a:t>SysML</a:t>
            </a:r>
            <a:r>
              <a:rPr lang="en-US" dirty="0"/>
              <a:t> from Rhapsody, and tabular/relational data from ADR and the </a:t>
            </a:r>
            <a:r>
              <a:rPr lang="en-US" dirty="0" err="1"/>
              <a:t>dodaf_se</a:t>
            </a:r>
            <a:r>
              <a:rPr lang="en-US" dirty="0"/>
              <a:t> transaction tables.</a:t>
            </a:r>
          </a:p>
          <a:p>
            <a:r>
              <a:rPr lang="en-US" dirty="0"/>
              <a:t>This stage produces the final polished reports ready for user review and HIL approval.</a:t>
            </a:r>
          </a:p>
          <a:p>
            <a:endParaRPr lang="en-US" dirty="0"/>
          </a:p>
          <a:p>
            <a:r>
              <a:rPr lang="en-US" dirty="0"/>
              <a:t>Stages 2–5 generate actual architecture views (CV, OV, SV/</a:t>
            </a:r>
            <a:r>
              <a:rPr lang="en-US" dirty="0" err="1"/>
              <a:t>SvcV</a:t>
            </a:r>
            <a:r>
              <a:rPr lang="en-US" dirty="0"/>
              <a:t>, PV/</a:t>
            </a:r>
            <a:r>
              <a:rPr lang="en-US" dirty="0" err="1"/>
              <a:t>StdV</a:t>
            </a:r>
            <a:r>
              <a:rPr lang="en-US" dirty="0"/>
              <a:t>).</a:t>
            </a:r>
          </a:p>
          <a:p>
            <a:r>
              <a:rPr lang="en-US" dirty="0"/>
              <a:t>Stage-6 assembles them into formal documents.</a:t>
            </a:r>
          </a:p>
          <a:p>
            <a:r>
              <a:rPr lang="en-US" dirty="0"/>
              <a:t>Everything flows into two final deliverables:</a:t>
            </a:r>
          </a:p>
          <a:p>
            <a:r>
              <a:rPr lang="en-US" b="1" dirty="0"/>
              <a:t>ICD</a:t>
            </a:r>
            <a:endParaRPr lang="en-US" dirty="0"/>
          </a:p>
          <a:p>
            <a:r>
              <a:rPr lang="en-US" b="1" dirty="0"/>
              <a:t>F2P Summary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49432-175C-C3EB-CF8B-D2C1991C7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525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“Next, let’s look at how </a:t>
            </a:r>
            <a:r>
              <a:rPr lang="en-US" b="1" dirty="0"/>
              <a:t>Neo4J </a:t>
            </a:r>
            <a:r>
              <a:rPr lang="en-US" b="1" dirty="0" err="1"/>
              <a:t>GraphDB</a:t>
            </a:r>
            <a:r>
              <a:rPr lang="en-US" dirty="0"/>
              <a:t> fits into the </a:t>
            </a:r>
            <a:r>
              <a:rPr lang="en-US" dirty="0" err="1"/>
              <a:t>DoW</a:t>
            </a:r>
            <a:r>
              <a:rPr lang="en-US" dirty="0"/>
              <a:t> agentic workflow.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Neo4J acts as the </a:t>
            </a:r>
            <a:r>
              <a:rPr lang="en-US" b="1" dirty="0"/>
              <a:t>central reasoning engine</a:t>
            </a:r>
            <a:r>
              <a:rPr lang="en-US" dirty="0"/>
              <a:t> for all DM2-aligned architecture data.</a:t>
            </a:r>
          </a:p>
          <a:p>
            <a:r>
              <a:rPr lang="en-US" dirty="0"/>
              <a:t>Where relational storage captures tabular outputs, Neo4J captures the </a:t>
            </a:r>
            <a:r>
              <a:rPr lang="en-US" b="1" dirty="0"/>
              <a:t>semantic structure</a:t>
            </a:r>
            <a:r>
              <a:rPr lang="en-US" dirty="0"/>
              <a:t> — all the nodes, performers, activities, systems, services, and standards, along with their traceability links.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When stages 3 through 5 run, they populate Neo4J with:</a:t>
            </a:r>
          </a:p>
          <a:p>
            <a:r>
              <a:rPr lang="en-US" b="1" dirty="0"/>
              <a:t>Operational View entities</a:t>
            </a:r>
            <a:r>
              <a:rPr lang="en-US" dirty="0"/>
              <a:t> such as activities, performers, nodes, and exchanges</a:t>
            </a:r>
          </a:p>
          <a:p>
            <a:r>
              <a:rPr lang="en-US" b="1" dirty="0"/>
              <a:t>System and Service View elements</a:t>
            </a:r>
            <a:r>
              <a:rPr lang="en-US" dirty="0"/>
              <a:t>, including systems, interfaces, ports, services, and resource flows</a:t>
            </a:r>
          </a:p>
          <a:p>
            <a:r>
              <a:rPr lang="en-US" b="1" dirty="0"/>
              <a:t>Performance and Standards View relationships</a:t>
            </a:r>
            <a:r>
              <a:rPr lang="en-US" dirty="0"/>
              <a:t>, such as measures, rules, constraints, and standards applicability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real power comes from the </a:t>
            </a:r>
            <a:r>
              <a:rPr lang="en-US" b="1" dirty="0"/>
              <a:t>relationships</a:t>
            </a:r>
            <a:r>
              <a:rPr lang="en-US" dirty="0"/>
              <a:t>: OV → SV/</a:t>
            </a:r>
            <a:r>
              <a:rPr lang="en-US" dirty="0" err="1"/>
              <a:t>SvcV</a:t>
            </a:r>
            <a:r>
              <a:rPr lang="en-US" dirty="0"/>
              <a:t> → PV/</a:t>
            </a:r>
            <a:r>
              <a:rPr lang="en-US" dirty="0" err="1"/>
              <a:t>StdV</a:t>
            </a:r>
            <a:r>
              <a:rPr lang="en-US" dirty="0"/>
              <a:t>.</a:t>
            </a:r>
          </a:p>
          <a:p>
            <a:r>
              <a:rPr lang="en-US" dirty="0"/>
              <a:t>These allow agents to ask questions like:</a:t>
            </a:r>
          </a:p>
          <a:p>
            <a:r>
              <a:rPr lang="en-US" i="1" dirty="0"/>
              <a:t>“Which system supports this operational activity?”</a:t>
            </a:r>
            <a:endParaRPr lang="en-US" dirty="0"/>
          </a:p>
          <a:p>
            <a:r>
              <a:rPr lang="en-US" i="1" dirty="0"/>
              <a:t>“Which standards constrain this interface?”</a:t>
            </a:r>
            <a:endParaRPr lang="en-US" dirty="0"/>
          </a:p>
          <a:p>
            <a:r>
              <a:rPr lang="en-US" i="1" dirty="0"/>
              <a:t>“What is the traceability path from an OV mission objective down to a PV performance measure?”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DoW</a:t>
            </a:r>
            <a:r>
              <a:rPr lang="en-US" dirty="0"/>
              <a:t> Retriever does </a:t>
            </a:r>
            <a:r>
              <a:rPr lang="en-US" b="1" dirty="0"/>
              <a:t>not</a:t>
            </a:r>
            <a:r>
              <a:rPr lang="en-US" dirty="0"/>
              <a:t> directly use Neo4J — the pipeline’s </a:t>
            </a:r>
            <a:r>
              <a:rPr lang="en-US" b="1" dirty="0"/>
              <a:t>specialized graph reasoning agents</a:t>
            </a:r>
            <a:r>
              <a:rPr lang="en-US" dirty="0"/>
              <a:t> handle these interactions.</a:t>
            </a:r>
          </a:p>
          <a:p>
            <a:r>
              <a:rPr lang="en-US" dirty="0"/>
              <a:t>These agents issue Cypher queries to extract:</a:t>
            </a:r>
          </a:p>
          <a:p>
            <a:r>
              <a:rPr lang="en-US" dirty="0"/>
              <a:t>Node/edge structures</a:t>
            </a:r>
          </a:p>
          <a:p>
            <a:r>
              <a:rPr lang="en-US" dirty="0"/>
              <a:t>Traceability chains</a:t>
            </a:r>
          </a:p>
          <a:p>
            <a:r>
              <a:rPr lang="en-US" dirty="0"/>
              <a:t>Dependency paths</a:t>
            </a:r>
          </a:p>
          <a:p>
            <a:r>
              <a:rPr lang="en-US" dirty="0"/>
              <a:t>Constraint relationships</a:t>
            </a:r>
          </a:p>
          <a:p>
            <a:r>
              <a:rPr lang="en-US" dirty="0"/>
              <a:t>Graph patterns needed for diagrams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From there, the </a:t>
            </a:r>
            <a:r>
              <a:rPr lang="en-US" b="1" dirty="0"/>
              <a:t>diagram assembly agents</a:t>
            </a:r>
            <a:r>
              <a:rPr lang="en-US" dirty="0"/>
              <a:t> use graph output to build OV/SV/PV diagrams through </a:t>
            </a:r>
            <a:r>
              <a:rPr lang="en-US" dirty="0" err="1"/>
              <a:t>PlantUML</a:t>
            </a:r>
            <a:r>
              <a:rPr lang="en-US" dirty="0"/>
              <a:t>, and to format </a:t>
            </a:r>
            <a:r>
              <a:rPr lang="en-US" dirty="0" err="1"/>
              <a:t>SysML</a:t>
            </a:r>
            <a:r>
              <a:rPr lang="en-US" dirty="0"/>
              <a:t>-compatible inputs for IBM Rhapsody.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Neo4J becomes a </a:t>
            </a:r>
            <a:r>
              <a:rPr lang="en-US" b="1" dirty="0"/>
              <a:t>source of architectural truth</a:t>
            </a:r>
            <a:r>
              <a:rPr lang="en-US" dirty="0"/>
              <a:t>, enabling:</a:t>
            </a:r>
          </a:p>
          <a:p>
            <a:r>
              <a:rPr lang="en-US" dirty="0"/>
              <a:t>Graph-based reasoning</a:t>
            </a:r>
          </a:p>
          <a:p>
            <a:r>
              <a:rPr lang="en-US" dirty="0"/>
              <a:t>Traceability visualization</a:t>
            </a:r>
          </a:p>
          <a:p>
            <a:r>
              <a:rPr lang="en-US" dirty="0"/>
              <a:t>Consistency checking</a:t>
            </a:r>
          </a:p>
          <a:p>
            <a:r>
              <a:rPr lang="en-US" dirty="0"/>
              <a:t>Automatic viewpoint stitching</a:t>
            </a:r>
          </a:p>
          <a:p>
            <a:r>
              <a:rPr lang="en-US" dirty="0"/>
              <a:t>Rich contextual retrieval for downstream reports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In short, Neo4J is the </a:t>
            </a:r>
            <a:r>
              <a:rPr lang="en-US" b="1" dirty="0"/>
              <a:t>knowledge graph backbone</a:t>
            </a:r>
            <a:r>
              <a:rPr lang="en-US" dirty="0"/>
              <a:t> of the </a:t>
            </a:r>
            <a:r>
              <a:rPr lang="en-US" dirty="0" err="1"/>
              <a:t>DoDAF</a:t>
            </a:r>
            <a:r>
              <a:rPr lang="en-US" dirty="0"/>
              <a:t> pipeline — connecting architecture elements, enabling traceability, and powering visual and analytical outputs.”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41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let’s walk through the role of </a:t>
            </a:r>
            <a:r>
              <a:rPr lang="en-US" b="1" dirty="0"/>
              <a:t>IBM Rhapsody</a:t>
            </a:r>
            <a:r>
              <a:rPr lang="en-US" dirty="0"/>
              <a:t> in the </a:t>
            </a:r>
            <a:r>
              <a:rPr lang="en-US" dirty="0" err="1"/>
              <a:t>DoW</a:t>
            </a:r>
            <a:r>
              <a:rPr lang="en-US" dirty="0"/>
              <a:t> agentic workflow.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Rhapsody serves as the </a:t>
            </a:r>
            <a:r>
              <a:rPr lang="en-US" b="1" dirty="0" err="1"/>
              <a:t>SysML</a:t>
            </a:r>
            <a:r>
              <a:rPr lang="en-US" b="1" dirty="0"/>
              <a:t> modeling environment</a:t>
            </a:r>
            <a:r>
              <a:rPr lang="en-US" dirty="0"/>
              <a:t> that receives structured architectural content from the earlier stages and turns that into </a:t>
            </a:r>
            <a:r>
              <a:rPr lang="en-US" b="1" dirty="0"/>
              <a:t>standards-compliant system engineering models</a:t>
            </a:r>
            <a:r>
              <a:rPr lang="en-US" dirty="0"/>
              <a:t>.</a:t>
            </a:r>
          </a:p>
          <a:p>
            <a:r>
              <a:rPr lang="en-US" dirty="0"/>
              <a:t>While Neo4J provides semantic relationships and </a:t>
            </a:r>
            <a:r>
              <a:rPr lang="en-US" dirty="0" err="1"/>
              <a:t>PlantUML</a:t>
            </a:r>
            <a:r>
              <a:rPr lang="en-US" dirty="0"/>
              <a:t> gives fast visualizations, Rhapsody is where we generate </a:t>
            </a:r>
            <a:r>
              <a:rPr lang="en-US" b="1" dirty="0"/>
              <a:t>formal </a:t>
            </a:r>
            <a:r>
              <a:rPr lang="en-US" b="1" dirty="0" err="1"/>
              <a:t>SysML</a:t>
            </a:r>
            <a:r>
              <a:rPr lang="en-US" b="1" dirty="0"/>
              <a:t> artifacts</a:t>
            </a:r>
            <a:r>
              <a:rPr lang="en-US" dirty="0"/>
              <a:t> that larger DoD programs expect.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When stages 3, 4, and 5 complete their analysis, the pipeline produces:</a:t>
            </a:r>
          </a:p>
          <a:p>
            <a:r>
              <a:rPr lang="en-US" dirty="0"/>
              <a:t>Operational nodes, activities, and performer relationships</a:t>
            </a:r>
          </a:p>
          <a:p>
            <a:r>
              <a:rPr lang="en-US" dirty="0"/>
              <a:t>System resources, interfaces, and component decompositions</a:t>
            </a:r>
          </a:p>
          <a:p>
            <a:r>
              <a:rPr lang="en-US" dirty="0"/>
              <a:t>Services, flows, and interdependencies</a:t>
            </a:r>
          </a:p>
          <a:p>
            <a:r>
              <a:rPr lang="en-US" dirty="0"/>
              <a:t>Performance measures, constraints, and standards traces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These are transformed by the diagram assembly agents into </a:t>
            </a:r>
            <a:r>
              <a:rPr lang="en-US" b="1" dirty="0"/>
              <a:t>Rhapsody-ready model inputs</a:t>
            </a:r>
            <a:r>
              <a:rPr lang="en-US" dirty="0"/>
              <a:t>, which represent:</a:t>
            </a:r>
          </a:p>
          <a:p>
            <a:r>
              <a:rPr lang="en-US" b="1" dirty="0"/>
              <a:t>OV structural elements</a:t>
            </a:r>
            <a:r>
              <a:rPr lang="en-US" dirty="0"/>
              <a:t> that map to </a:t>
            </a:r>
            <a:r>
              <a:rPr lang="en-US" dirty="0" err="1"/>
              <a:t>SysML</a:t>
            </a:r>
            <a:r>
              <a:rPr lang="en-US" dirty="0"/>
              <a:t> blocks, actors, and interactions</a:t>
            </a:r>
          </a:p>
          <a:p>
            <a:r>
              <a:rPr lang="en-US" b="1" dirty="0"/>
              <a:t>SV/</a:t>
            </a:r>
            <a:r>
              <a:rPr lang="en-US" b="1" dirty="0" err="1"/>
              <a:t>SvcV</a:t>
            </a:r>
            <a:r>
              <a:rPr lang="en-US" b="1" dirty="0"/>
              <a:t> system and service hierarchies</a:t>
            </a:r>
            <a:r>
              <a:rPr lang="en-US" dirty="0"/>
              <a:t> that become block definitions, IBDs, and sequence diagrams</a:t>
            </a:r>
          </a:p>
          <a:p>
            <a:r>
              <a:rPr lang="en-US" b="1" dirty="0"/>
              <a:t>PV/</a:t>
            </a:r>
            <a:r>
              <a:rPr lang="en-US" b="1" dirty="0" err="1"/>
              <a:t>StdV</a:t>
            </a:r>
            <a:r>
              <a:rPr lang="en-US" b="1" dirty="0"/>
              <a:t> constraints</a:t>
            </a:r>
            <a:r>
              <a:rPr lang="en-US" dirty="0"/>
              <a:t> that translate into parametric diagrams and requirement relationships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Rhapsody then becomes the </a:t>
            </a:r>
            <a:r>
              <a:rPr lang="en-US" b="1" dirty="0"/>
              <a:t>system-of-record modeling engine</a:t>
            </a:r>
            <a:r>
              <a:rPr lang="en-US" dirty="0"/>
              <a:t>, enabling:</a:t>
            </a:r>
          </a:p>
          <a:p>
            <a:r>
              <a:rPr lang="en-US" b="1" dirty="0"/>
              <a:t>Formal </a:t>
            </a:r>
            <a:r>
              <a:rPr lang="en-US" b="1" dirty="0" err="1"/>
              <a:t>SysML</a:t>
            </a:r>
            <a:r>
              <a:rPr lang="en-US" b="1" dirty="0"/>
              <a:t> model creation</a:t>
            </a:r>
            <a:r>
              <a:rPr lang="en-US" dirty="0"/>
              <a:t>, compliant with </a:t>
            </a:r>
            <a:r>
              <a:rPr lang="en-US" dirty="0" err="1"/>
              <a:t>DoDAF</a:t>
            </a:r>
            <a:r>
              <a:rPr lang="en-US" dirty="0"/>
              <a:t> 2.0 guidance</a:t>
            </a:r>
          </a:p>
          <a:p>
            <a:r>
              <a:rPr lang="en-US" b="1" dirty="0"/>
              <a:t>Parametric &amp; behavioral modeling</a:t>
            </a:r>
            <a:r>
              <a:rPr lang="en-US" dirty="0"/>
              <a:t>, not possible through </a:t>
            </a:r>
            <a:r>
              <a:rPr lang="en-US" dirty="0" err="1"/>
              <a:t>PlantUML</a:t>
            </a:r>
            <a:r>
              <a:rPr lang="en-US" dirty="0"/>
              <a:t> alone</a:t>
            </a:r>
          </a:p>
          <a:p>
            <a:r>
              <a:rPr lang="en-US" b="1" dirty="0"/>
              <a:t>Model simulation</a:t>
            </a:r>
            <a:r>
              <a:rPr lang="en-US" dirty="0"/>
              <a:t> for validating system behaviors and interactions</a:t>
            </a:r>
          </a:p>
          <a:p>
            <a:r>
              <a:rPr lang="en-US" b="1" dirty="0"/>
              <a:t>Export back into downstream formats</a:t>
            </a:r>
            <a:r>
              <a:rPr lang="en-US" dirty="0"/>
              <a:t>, including images, XMI, and model fragments</a:t>
            </a:r>
          </a:p>
          <a:p>
            <a:r>
              <a:rPr lang="en-US" b="1" dirty="0"/>
              <a:t>Authoritative model storage</a:t>
            </a:r>
            <a:r>
              <a:rPr lang="en-US" dirty="0"/>
              <a:t>, which can be pushed back into the DM2 repository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In addition, Rhapsody integrates cleanly with IBM’s lifecycle toolchain, offering:</a:t>
            </a:r>
          </a:p>
          <a:p>
            <a:r>
              <a:rPr lang="en-US" dirty="0"/>
              <a:t>Versioning</a:t>
            </a:r>
          </a:p>
          <a:p>
            <a:r>
              <a:rPr lang="en-US" dirty="0"/>
              <a:t>Model governance</a:t>
            </a:r>
          </a:p>
          <a:p>
            <a:r>
              <a:rPr lang="en-US" dirty="0"/>
              <a:t>Change tracking</a:t>
            </a:r>
          </a:p>
          <a:p>
            <a:r>
              <a:rPr lang="en-US" dirty="0"/>
              <a:t>Validation against system constraints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This ensures that architecture isn’t just visually represented — it’s </a:t>
            </a:r>
            <a:r>
              <a:rPr lang="en-US" b="1" dirty="0"/>
              <a:t>rigorously modeled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So Rhapsody closes the loop:</a:t>
            </a:r>
          </a:p>
          <a:p>
            <a:r>
              <a:rPr lang="en-US" b="1" dirty="0"/>
              <a:t>Neo4J gives us relationships → </a:t>
            </a:r>
            <a:r>
              <a:rPr lang="en-US" b="1" dirty="0" err="1"/>
              <a:t>PlantUML</a:t>
            </a:r>
            <a:r>
              <a:rPr lang="en-US" b="1" dirty="0"/>
              <a:t> gives quick views → Rhapsody turns those views into formal, executable </a:t>
            </a:r>
            <a:r>
              <a:rPr lang="en-US" b="1" dirty="0" err="1"/>
              <a:t>SysML</a:t>
            </a:r>
            <a:r>
              <a:rPr lang="en-US" b="1" dirty="0"/>
              <a:t> models.</a:t>
            </a:r>
            <a:endParaRPr lang="en-US" dirty="0"/>
          </a:p>
          <a:p>
            <a:r>
              <a:rPr lang="en-US" dirty="0"/>
              <a:t>This is essential for any </a:t>
            </a:r>
            <a:r>
              <a:rPr lang="en-US" dirty="0" err="1"/>
              <a:t>DoDAF</a:t>
            </a:r>
            <a:r>
              <a:rPr lang="en-US" dirty="0"/>
              <a:t> pipeline that needs to move beyond documentation into </a:t>
            </a:r>
            <a:r>
              <a:rPr lang="en-US" b="1" dirty="0"/>
              <a:t>actual systems engineering and acquisition deliverables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1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96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“Let me close with a summary of what this architecture accomplishes.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What we’ve built is a </a:t>
            </a:r>
            <a:r>
              <a:rPr lang="en-US" b="1" dirty="0"/>
              <a:t>complete, automated, agentic </a:t>
            </a:r>
            <a:r>
              <a:rPr lang="en-US" b="1" dirty="0" err="1"/>
              <a:t>DoDAF</a:t>
            </a:r>
            <a:r>
              <a:rPr lang="en-US" b="1" dirty="0"/>
              <a:t> 2.0 pipeline</a:t>
            </a:r>
            <a:r>
              <a:rPr lang="en-US" dirty="0"/>
              <a:t>, starting from raw documents and ending with fully generated </a:t>
            </a:r>
            <a:r>
              <a:rPr lang="en-US" dirty="0" err="1"/>
              <a:t>DoDAF</a:t>
            </a:r>
            <a:r>
              <a:rPr lang="en-US" dirty="0"/>
              <a:t>-aligned deliverables.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It begins with </a:t>
            </a:r>
            <a:r>
              <a:rPr lang="en-US" b="1" dirty="0"/>
              <a:t>document intake</a:t>
            </a:r>
            <a:r>
              <a:rPr lang="en-US" dirty="0"/>
              <a:t>, where any </a:t>
            </a:r>
            <a:r>
              <a:rPr lang="en-US" dirty="0" err="1"/>
              <a:t>DoDAF</a:t>
            </a:r>
            <a:r>
              <a:rPr lang="en-US" dirty="0"/>
              <a:t>/SE artifact — PDFs, Word files, prior ICDs, operational views, requirements — can be uploaded into the system. </a:t>
            </a:r>
            <a:r>
              <a:rPr lang="en-US" dirty="0" err="1"/>
              <a:t>Docling</a:t>
            </a:r>
            <a:r>
              <a:rPr lang="en-US" dirty="0"/>
              <a:t> converts them into structured Markdown and extracted artifacts, ensuring nothing is lost in translation.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pipeline then flows into the </a:t>
            </a:r>
            <a:r>
              <a:rPr lang="en-US" b="1" dirty="0"/>
              <a:t>six-stage agentic </a:t>
            </a:r>
            <a:r>
              <a:rPr lang="en-US" b="1" dirty="0" err="1"/>
              <a:t>DoDAF</a:t>
            </a:r>
            <a:r>
              <a:rPr lang="en-US" b="1" dirty="0"/>
              <a:t> process</a:t>
            </a:r>
            <a:r>
              <a:rPr lang="en-US" dirty="0"/>
              <a:t>, where each stage specializes in a specific architectural responsibility: intended use, scope and ICD construction, operational viewpoint development, system/service modeling, performance and standards analysis, and finally the presentation and compilation of results.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Supporting that pipeline is the </a:t>
            </a:r>
            <a:r>
              <a:rPr lang="en-US" b="1" dirty="0" err="1"/>
              <a:t>DoW</a:t>
            </a:r>
            <a:r>
              <a:rPr lang="en-US" b="1" dirty="0"/>
              <a:t> Retriever</a:t>
            </a:r>
            <a:r>
              <a:rPr lang="en-US" dirty="0"/>
              <a:t>, which provides governed, federated access across multiple enterprise data sources. It normalizes data into knowledge chunks, applies masking and governance, and injects mission-relevant context exactly when the agents need it.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architecture is augmented by a </a:t>
            </a:r>
            <a:r>
              <a:rPr lang="en-US" b="1" dirty="0"/>
              <a:t>Neo4J DM2 Graph Store</a:t>
            </a:r>
            <a:r>
              <a:rPr lang="en-US" dirty="0"/>
              <a:t>, enabling graph-based reasoning, traceability, cross-viewpoint linking, and fast diagram assembly.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For formal systems engineering, </a:t>
            </a:r>
            <a:r>
              <a:rPr lang="en-US" b="1" dirty="0"/>
              <a:t>IBM Rhapsody</a:t>
            </a:r>
            <a:r>
              <a:rPr lang="en-US" dirty="0"/>
              <a:t> transforms the generated architectural content into full </a:t>
            </a:r>
            <a:r>
              <a:rPr lang="en-US" dirty="0" err="1"/>
              <a:t>SysML</a:t>
            </a:r>
            <a:r>
              <a:rPr lang="en-US" dirty="0"/>
              <a:t> models — block diagrams, sequence diagrams, state models, </a:t>
            </a:r>
            <a:r>
              <a:rPr lang="en-US" dirty="0" err="1"/>
              <a:t>parametrics</a:t>
            </a:r>
            <a:r>
              <a:rPr lang="en-US" dirty="0"/>
              <a:t> — providing DoD-grade modeling fidelity.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All stage outputs, DM2 structures, diagrams, and findings are persisted in </a:t>
            </a:r>
            <a:r>
              <a:rPr lang="en-US" b="1" dirty="0"/>
              <a:t>PostgreSQL</a:t>
            </a:r>
            <a:r>
              <a:rPr lang="en-US" dirty="0"/>
              <a:t> repositories — </a:t>
            </a:r>
            <a:r>
              <a:rPr lang="en-US" dirty="0" err="1"/>
              <a:t>dodaf_se</a:t>
            </a:r>
            <a:r>
              <a:rPr lang="en-US" dirty="0"/>
              <a:t> for stage outputs and </a:t>
            </a:r>
            <a:r>
              <a:rPr lang="en-US" dirty="0" err="1"/>
              <a:t>adr</a:t>
            </a:r>
            <a:r>
              <a:rPr lang="en-US" dirty="0"/>
              <a:t> for authoritative DM2 data.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the </a:t>
            </a:r>
            <a:r>
              <a:rPr lang="en-US" b="1" dirty="0"/>
              <a:t>report assembly agents</a:t>
            </a:r>
            <a:r>
              <a:rPr lang="en-US" dirty="0"/>
              <a:t> merge everything — stage outputs, DM2 data, Rhapsody/</a:t>
            </a:r>
            <a:r>
              <a:rPr lang="en-US" dirty="0" err="1"/>
              <a:t>PlantUML</a:t>
            </a:r>
            <a:r>
              <a:rPr lang="en-US" dirty="0"/>
              <a:t> diagrams, templates — into complete </a:t>
            </a:r>
            <a:r>
              <a:rPr lang="en-US" b="1" dirty="0" err="1"/>
              <a:t>ICD.docx</a:t>
            </a:r>
            <a:r>
              <a:rPr lang="en-US" b="1" dirty="0"/>
              <a:t> and F2P </a:t>
            </a:r>
            <a:r>
              <a:rPr lang="en-US" b="1" dirty="0" err="1"/>
              <a:t>Summary.docx</a:t>
            </a:r>
            <a:r>
              <a:rPr lang="en-US" dirty="0"/>
              <a:t> reports, including embedded diagrams, ensuring fully traceable, production-ready deliverables.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result is a </a:t>
            </a:r>
            <a:r>
              <a:rPr lang="en-US" b="1" dirty="0"/>
              <a:t>repeatable, governed, high-fidelity </a:t>
            </a:r>
            <a:r>
              <a:rPr lang="en-US" b="1" dirty="0" err="1"/>
              <a:t>DoDAF</a:t>
            </a:r>
            <a:r>
              <a:rPr lang="en-US" b="1" dirty="0"/>
              <a:t> automation pipeline</a:t>
            </a:r>
            <a:r>
              <a:rPr lang="en-US" dirty="0"/>
              <a:t> that dramatically accelerates architecture development, improves quality, and supports mission-aligned decision-making.”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46326-A733-874D-8913-3098AA5B2D1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6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D287-5A0B-79D1-61E7-0CD7D424B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9F2D5-0913-3930-D190-FCD39077F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91BBA-C6FF-89B4-F3C0-EC426FD27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3648B-FC10-D484-F25E-4FD5985A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1F8E-C8CD-8249-D6ED-D8FEF760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0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E3DE-BA7A-BE78-4976-D1F933BE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AD5F-F867-6680-FE35-2A87C3342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420F5-5BD6-864A-AC29-7506B84A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8E448-04FA-EEA5-606B-C40C7123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49080-9E00-DEDC-64A1-CED55949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9C2D-2BAF-2FB4-8BEA-FADFDAFE5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83ADF-3890-B978-E67B-6B9C0A79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34E65-22C1-EBDB-6D65-E6971DEF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EB886-6724-512C-DB39-E2CEC120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762D3-3E6A-7C19-C2D7-D71A26CF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09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0FF3-0550-C5BA-2F0F-0B0A163C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86116-D577-1EB4-9029-006D4885D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03200-FE57-BABD-3307-78103372D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DE875-42F4-46C6-B6DE-7DBE7E77E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7E6DA-B4B2-E6F3-269A-8C71DECA0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3A252-CEF8-7828-34F0-ECA7F69EB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2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A1EA-B77A-1419-B723-9FDE3B16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2FC6A-77D1-1873-4647-7E6AE9C51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86F48-BEA7-9BD5-C0B6-EA56EF64A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99A40C-378A-0DEB-B0CF-96751D602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D0D337-C394-82B6-3CC1-10A95127B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33994-42EF-7C9B-7A36-4958612C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CD38C-C1FD-02F5-409E-40DFB002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E35C77-AB0A-5D0E-18C8-23C1C856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5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6F73-765C-6392-5AA0-F534F8D1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D2A5F-E2E9-1E90-D5A5-47EE0514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2F1C2-9A1C-73B4-6D16-A642A890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F5D13-87E3-6BF2-F0F8-74C20C94A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65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01F0F-6551-7E76-9895-C2596862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8B754-3949-66DD-B921-8D6314CF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CA623-2591-8E0F-9C4E-D1882C38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4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4DD2-F9E2-D061-C497-4E93AD2D6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FDB0B-4339-0C39-CDAA-F40611E4A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A4604-39F3-863B-8DB3-A637B7DA6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F7F-EA98-A9B0-9BF1-7D690DF6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EDD72-37AA-7206-7D72-9CD8C3C0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90172-3581-2AC0-F4B2-C566E382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7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AC7D-DAF5-87EB-F7E3-11FBEBB9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AEE06-C04F-15EA-28EA-C46667010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58B74-1898-2E1A-C235-82CE0A66F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15EAA-9FF0-444A-9C38-19585EE3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AC378-91D8-28FB-74AD-411398B5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C3F80-4D2C-22A7-D65C-694A72AD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9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DDBD-E4B5-CE1D-B86F-9721256A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E353F-EC9B-1DF3-591D-95DE5F8A0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30ADE-83ED-9B03-BF10-5CDC221C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18FFE-FAAC-7C90-0D57-8FD7D5B7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F75DC-76BA-88F0-672C-1C765FA9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9210E-A80B-5559-F269-1F5137329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A1E43-F5AE-A364-C769-CD50DC351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F2265-AD0F-1040-2EEC-29E93B05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ADC6E-70A6-B8F9-74F0-BB7E13BB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0F5FF-9040-5F2F-EA12-D31149F4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8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30A5A-F62A-E5A8-2DC9-1DA36414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872D2-E63C-518A-DF27-042155E3A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1632F-9F07-1DBE-8B19-68553CBE4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5CED2-7CF3-124D-B8BD-2D8F0232FCE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41FD9-22D7-F036-B9FF-0C00447B9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325A0-E946-13C3-E8A5-A35716238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81CFE-1CCE-CF4A-BB59-8AEE9AC5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7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7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EF9B-33D9-26F8-08E7-966902CE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271"/>
            <a:ext cx="10515600" cy="923330"/>
          </a:xfrm>
        </p:spPr>
        <p:txBody>
          <a:bodyPr/>
          <a:lstStyle/>
          <a:p>
            <a:r>
              <a:rPr lang="en-US" b="1" dirty="0" err="1"/>
              <a:t>DoW</a:t>
            </a:r>
            <a:r>
              <a:rPr lang="en-US" b="1" dirty="0"/>
              <a:t> Agentic Process Flow — </a:t>
            </a:r>
            <a:r>
              <a:rPr lang="en-US" b="1" dirty="0" err="1"/>
              <a:t>DoDAF</a:t>
            </a:r>
            <a:r>
              <a:rPr lang="en-US" b="1" dirty="0"/>
              <a:t> 2.0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E2D43-B017-7E19-7C47-9CF49E770EB7}"/>
              </a:ext>
            </a:extLst>
          </p:cNvPr>
          <p:cNvSpPr txBox="1"/>
          <p:nvPr/>
        </p:nvSpPr>
        <p:spPr>
          <a:xfrm>
            <a:off x="1075038" y="1779605"/>
            <a:ext cx="102787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This deck illustrates the full agentic workflow and clarifies the role of each stage in the </a:t>
            </a:r>
            <a:r>
              <a:rPr lang="en-US" sz="2400" b="1" dirty="0" err="1"/>
              <a:t>DoDAF</a:t>
            </a:r>
            <a:r>
              <a:rPr lang="en-US" sz="2400" b="1" dirty="0"/>
              <a:t> 2.0 process.</a:t>
            </a:r>
          </a:p>
          <a:p>
            <a:endParaRPr lang="en-US" dirty="0"/>
          </a:p>
        </p:txBody>
      </p:sp>
      <p:pic>
        <p:nvPicPr>
          <p:cNvPr id="26626" name="Picture 2" descr="Agile DoDAF 2 &amp; UAF live expert virtual ...">
            <a:extLst>
              <a:ext uri="{FF2B5EF4-FFF2-40B4-BE49-F238E27FC236}">
                <a16:creationId xmlns:a16="http://schemas.microsoft.com/office/drawing/2014/main" id="{F64D1E8C-6FD3-1C32-D479-DE0B3AC96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387" y="5290223"/>
            <a:ext cx="1859295" cy="130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 descr="CrewAI Launches Multi-Agentic Platform ...">
            <a:extLst>
              <a:ext uri="{FF2B5EF4-FFF2-40B4-BE49-F238E27FC236}">
                <a16:creationId xmlns:a16="http://schemas.microsoft.com/office/drawing/2014/main" id="{9112F8DB-60A0-3577-BB02-1C06531CD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591" y="5510161"/>
            <a:ext cx="1953537" cy="91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0" name="Picture 6" descr="IBM Nederland BV - NIDV">
            <a:extLst>
              <a:ext uri="{FF2B5EF4-FFF2-40B4-BE49-F238E27FC236}">
                <a16:creationId xmlns:a16="http://schemas.microsoft.com/office/drawing/2014/main" id="{94A413EE-25DC-1876-822B-C5F004249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896" y="5314493"/>
            <a:ext cx="2088293" cy="130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A7CBEE-AEBE-9C12-B79F-DA7AB078DB30}"/>
              </a:ext>
            </a:extLst>
          </p:cNvPr>
          <p:cNvSpPr txBox="1"/>
          <p:nvPr/>
        </p:nvSpPr>
        <p:spPr>
          <a:xfrm>
            <a:off x="1094896" y="4643892"/>
            <a:ext cx="557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Ravi Natarajan</a:t>
            </a:r>
          </a:p>
          <a:p>
            <a:r>
              <a:rPr lang="en-US" dirty="0" err="1"/>
              <a:t>Ravi.Natarajan@ibm.com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3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97018E-9D3E-ED27-2577-7D75CF082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191904"/>
              </p:ext>
            </p:extLst>
          </p:nvPr>
        </p:nvGraphicFramePr>
        <p:xfrm>
          <a:off x="322729" y="1093395"/>
          <a:ext cx="11241740" cy="40421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3271">
                  <a:extLst>
                    <a:ext uri="{9D8B030D-6E8A-4147-A177-3AD203B41FA5}">
                      <a16:colId xmlns:a16="http://schemas.microsoft.com/office/drawing/2014/main" val="2220788811"/>
                    </a:ext>
                  </a:extLst>
                </a:gridCol>
                <a:gridCol w="2447365">
                  <a:extLst>
                    <a:ext uri="{9D8B030D-6E8A-4147-A177-3AD203B41FA5}">
                      <a16:colId xmlns:a16="http://schemas.microsoft.com/office/drawing/2014/main" val="3348833090"/>
                    </a:ext>
                  </a:extLst>
                </a:gridCol>
                <a:gridCol w="4020669">
                  <a:extLst>
                    <a:ext uri="{9D8B030D-6E8A-4147-A177-3AD203B41FA5}">
                      <a16:colId xmlns:a16="http://schemas.microsoft.com/office/drawing/2014/main" val="2752772880"/>
                    </a:ext>
                  </a:extLst>
                </a:gridCol>
                <a:gridCol w="2810435">
                  <a:extLst>
                    <a:ext uri="{9D8B030D-6E8A-4147-A177-3AD203B41FA5}">
                      <a16:colId xmlns:a16="http://schemas.microsoft.com/office/drawing/2014/main" val="1630846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Date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Author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Version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337956"/>
                  </a:ext>
                </a:extLst>
              </a:tr>
              <a:tr h="411142">
                <a:tc>
                  <a:txBody>
                    <a:bodyPr/>
                    <a:lstStyle/>
                    <a:p>
                      <a:r>
                        <a:rPr lang="en-US" sz="1200" dirty="0"/>
                        <a:t>11/15/2025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Ravi Natarajan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Initial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449924"/>
                  </a:ext>
                </a:extLst>
              </a:tr>
              <a:tr h="625139">
                <a:tc>
                  <a:txBody>
                    <a:bodyPr/>
                    <a:lstStyle/>
                    <a:p>
                      <a:r>
                        <a:rPr lang="en-US" sz="1200" dirty="0"/>
                        <a:t>11/19/2025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Ravi Natarajan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200" dirty="0"/>
                        <a:t>Added HIL (yellow </a:t>
                      </a:r>
                      <a:r>
                        <a:rPr lang="en-US" sz="1200" dirty="0" err="1"/>
                        <a:t>rect</a:t>
                      </a:r>
                      <a:r>
                        <a:rPr lang="en-US" sz="1200" dirty="0"/>
                        <a:t>) in the main flow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200" dirty="0"/>
                        <a:t>Added a slide to show how artifacts are collected, produced for final report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200" dirty="0"/>
                        <a:t>Added acronyms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925272"/>
                  </a:ext>
                </a:extLst>
              </a:tr>
              <a:tr h="557904">
                <a:tc>
                  <a:txBody>
                    <a:bodyPr/>
                    <a:lstStyle/>
                    <a:p>
                      <a:r>
                        <a:rPr lang="en-US" sz="1200"/>
                        <a:t>11/21/2025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Ravi Natarajan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Added 1 slide after Intro slide to show the Main Agentic Process flow pipelines – which comprise of </a:t>
                      </a:r>
                      <a:r>
                        <a:rPr lang="en-US" sz="1200" dirty="0" err="1"/>
                        <a:t>DoDAF</a:t>
                      </a:r>
                      <a:r>
                        <a:rPr lang="en-US" sz="1200" dirty="0"/>
                        <a:t> 2.0, JCDIS, </a:t>
                      </a:r>
                      <a:r>
                        <a:rPr lang="en-US" sz="1200" dirty="0" err="1"/>
                        <a:t>DaU</a:t>
                      </a:r>
                      <a:r>
                        <a:rPr lang="en-US" sz="1200" dirty="0"/>
                        <a:t> SE  pipelines. Ensured, to add WKC (</a:t>
                      </a:r>
                      <a:r>
                        <a:rPr lang="en-US" sz="1200" dirty="0" err="1"/>
                        <a:t>Watsonx</a:t>
                      </a:r>
                      <a:r>
                        <a:rPr lang="en-US" sz="1200" dirty="0"/>
                        <a:t> Knowledge Catalog) which is the vital component for the </a:t>
                      </a:r>
                      <a:r>
                        <a:rPr lang="en-US" sz="1200" dirty="0" err="1"/>
                        <a:t>DoW</a:t>
                      </a:r>
                      <a:r>
                        <a:rPr lang="en-US" sz="1200" dirty="0"/>
                        <a:t> Retriever.  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456592"/>
                  </a:ext>
                </a:extLst>
              </a:tr>
              <a:tr h="692374">
                <a:tc>
                  <a:txBody>
                    <a:bodyPr/>
                    <a:lstStyle/>
                    <a:p>
                      <a:r>
                        <a:rPr lang="en-US" sz="1200" dirty="0"/>
                        <a:t>11/30/2025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Ravi Natarajan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Ensured that the Knowledge Catalog is generic and need not be WKC but any other product as suitable.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95935"/>
                  </a:ext>
                </a:extLst>
              </a:tr>
              <a:tr h="591671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1175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63C5AC-4292-FB75-688A-B2E9567A1A8F}"/>
              </a:ext>
            </a:extLst>
          </p:cNvPr>
          <p:cNvSpPr txBox="1"/>
          <p:nvPr/>
        </p:nvSpPr>
        <p:spPr>
          <a:xfrm>
            <a:off x="228600" y="245640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Document Revision History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1260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61485-97AD-425F-6585-F96270EE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C1B844-9943-0DC5-99C2-C65C3F2ADC4B}"/>
              </a:ext>
            </a:extLst>
          </p:cNvPr>
          <p:cNvSpPr txBox="1"/>
          <p:nvPr/>
        </p:nvSpPr>
        <p:spPr>
          <a:xfrm>
            <a:off x="228600" y="245640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Introduction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3375B-1AF5-D3AC-DAC6-ABF99889BF73}"/>
              </a:ext>
            </a:extLst>
          </p:cNvPr>
          <p:cNvSpPr txBox="1"/>
          <p:nvPr/>
        </p:nvSpPr>
        <p:spPr>
          <a:xfrm>
            <a:off x="510987" y="1021646"/>
            <a:ext cx="112148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Purpose of This Deck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the </a:t>
            </a:r>
            <a:r>
              <a:rPr lang="en-US" dirty="0" err="1"/>
              <a:t>DoW</a:t>
            </a:r>
            <a:r>
              <a:rPr lang="en-US" dirty="0"/>
              <a:t> Agentic Process Flow aligned to </a:t>
            </a:r>
            <a:r>
              <a:rPr lang="en-US" dirty="0" err="1"/>
              <a:t>DoDAF</a:t>
            </a:r>
            <a:r>
              <a:rPr lang="en-US" dirty="0"/>
              <a:t> 2.0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Describe how uploaded documents move through the 6 automated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how supporting components (</a:t>
            </a:r>
            <a:r>
              <a:rPr lang="en-US" dirty="0" err="1"/>
              <a:t>Docling</a:t>
            </a:r>
            <a:r>
              <a:rPr lang="en-US" dirty="0"/>
              <a:t>, Retriever, Neo4J, Rhapsody, PostgreSQL) fit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a coherent end-to-end view of the system architecture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What This Deck Covers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agentic workflow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Stage-by-stage walkthrough (1–6)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Supporting subsystem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each component contributes to </a:t>
            </a:r>
            <a:r>
              <a:rPr lang="en-US" dirty="0" err="1"/>
              <a:t>DoDAF</a:t>
            </a:r>
            <a:r>
              <a:rPr lang="en-US" dirty="0"/>
              <a:t> analysis and report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slide  (4) “Main Agents Process Flow” shows the full flow at high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slide  (20) “</a:t>
            </a:r>
            <a:r>
              <a:rPr lang="en-US" dirty="0" err="1"/>
              <a:t>DoDAF</a:t>
            </a:r>
            <a:r>
              <a:rPr lang="en-US" dirty="0"/>
              <a:t> 6-Stage </a:t>
            </a:r>
            <a:r>
              <a:rPr lang="en-US" dirty="0" err="1"/>
              <a:t>CrewAI</a:t>
            </a:r>
            <a:r>
              <a:rPr lang="en-US" dirty="0"/>
              <a:t> Pipeline” shows crews and list of agents within each crew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Outcome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clear understanding of how the </a:t>
            </a:r>
            <a:r>
              <a:rPr lang="en-US" dirty="0" err="1"/>
              <a:t>DoW</a:t>
            </a:r>
            <a:r>
              <a:rPr lang="en-US" dirty="0"/>
              <a:t> pipeline automates </a:t>
            </a:r>
            <a:r>
              <a:rPr lang="en-US" dirty="0" err="1"/>
              <a:t>DoDAF</a:t>
            </a:r>
            <a:r>
              <a:rPr lang="en-US" dirty="0"/>
              <a:t> 2.0 architectural processing.</a:t>
            </a:r>
          </a:p>
        </p:txBody>
      </p:sp>
    </p:spTree>
    <p:extLst>
      <p:ext uri="{BB962C8B-B14F-4D97-AF65-F5344CB8AC3E}">
        <p14:creationId xmlns:p14="http://schemas.microsoft.com/office/powerpoint/2010/main" val="150133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A5991B0-CC74-F6DB-7E40-A24747B99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092" y="373264"/>
            <a:ext cx="6909487" cy="623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F47DE5-16C3-4DFB-CC6E-E91B22D9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62" y="116016"/>
            <a:ext cx="6909487" cy="710249"/>
          </a:xfrm>
        </p:spPr>
        <p:txBody>
          <a:bodyPr>
            <a:normAutofit/>
          </a:bodyPr>
          <a:lstStyle/>
          <a:p>
            <a:r>
              <a:rPr lang="en-US" sz="3600" b="1" dirty="0"/>
              <a:t>Main Agentic Process Flow</a:t>
            </a:r>
            <a:endParaRPr lang="en-US" sz="3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5C2FE-70C9-3DC8-6D88-6F56B8B70D92}"/>
              </a:ext>
            </a:extLst>
          </p:cNvPr>
          <p:cNvSpPr txBox="1"/>
          <p:nvPr/>
        </p:nvSpPr>
        <p:spPr>
          <a:xfrm>
            <a:off x="220361" y="1330697"/>
            <a:ext cx="4279067" cy="3046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dirty="0"/>
              <a:t>All incoming documents are classified by a Router to determine the correct processing path.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</a:t>
            </a:r>
            <a:r>
              <a:rPr lang="en-US" sz="1200" dirty="0" err="1"/>
              <a:t>DoDAF</a:t>
            </a:r>
            <a:r>
              <a:rPr lang="en-US" sz="1200" dirty="0"/>
              <a:t> 2.0 pipeline executes first when architectural decomposition or mission/context analysis is required.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/>
              <a:t>DoDAF</a:t>
            </a:r>
            <a:r>
              <a:rPr lang="en-US" sz="1200" dirty="0"/>
              <a:t> 2.0 pipeline outputs include the ICD, F2P summary, and full OV/CV/SV/PV/</a:t>
            </a:r>
            <a:r>
              <a:rPr lang="en-US" sz="1200" dirty="0" err="1"/>
              <a:t>StdV</a:t>
            </a:r>
            <a:r>
              <a:rPr lang="en-US" sz="1200" dirty="0"/>
              <a:t> architectural views.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initial ICD (HIL-approved) is used as key input to the JCIDS pipeline for capability development.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JCIDS pipeline produces CDD, CPD, KPP/KSA bundles, </a:t>
            </a:r>
            <a:r>
              <a:rPr lang="en-US" sz="1200" dirty="0" err="1"/>
              <a:t>DOTmLPF</a:t>
            </a:r>
            <a:r>
              <a:rPr lang="en-US" sz="1200" dirty="0"/>
              <a:t>-P assessment, and traceability artifacts.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DAU Systems Engineering pipeline produces SRD, SPS, TEMP, TPMs, and engineering lifecycle deliverables.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Each pipeline independently outputs its own formal documents for decision-making.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combined structure ensures traceable flow from architecture → capability → systems engineering.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6B252-AF75-B680-431D-6D6D600D6454}"/>
              </a:ext>
            </a:extLst>
          </p:cNvPr>
          <p:cNvSpPr txBox="1"/>
          <p:nvPr/>
        </p:nvSpPr>
        <p:spPr>
          <a:xfrm>
            <a:off x="151024" y="6464985"/>
            <a:ext cx="441774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Note: This PPT Deck only shows the </a:t>
            </a:r>
            <a:r>
              <a:rPr lang="en-US" sz="1200" dirty="0" err="1"/>
              <a:t>DoDAF</a:t>
            </a:r>
            <a:r>
              <a:rPr lang="en-US" sz="1200" dirty="0"/>
              <a:t> 2.0 6 stages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E8D3B-1E9D-6D6D-AB30-29927D4DF2F1}"/>
              </a:ext>
            </a:extLst>
          </p:cNvPr>
          <p:cNvSpPr txBox="1"/>
          <p:nvPr/>
        </p:nvSpPr>
        <p:spPr>
          <a:xfrm>
            <a:off x="220360" y="4558951"/>
            <a:ext cx="434840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The </a:t>
            </a:r>
            <a:r>
              <a:rPr lang="en-US" sz="1200" b="1" dirty="0" err="1"/>
              <a:t>DoW</a:t>
            </a:r>
            <a:r>
              <a:rPr lang="en-US" sz="1200" b="1" dirty="0"/>
              <a:t> Retriever (not shown in the diagram leverages WKC’s  (or similar product) governed metadata and lineage to deliver rich, trusted context to all agents.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56EC00-8B03-3F42-87DB-C99015DBED1F}"/>
              </a:ext>
            </a:extLst>
          </p:cNvPr>
          <p:cNvSpPr txBox="1"/>
          <p:nvPr/>
        </p:nvSpPr>
        <p:spPr>
          <a:xfrm>
            <a:off x="8615190" y="4435840"/>
            <a:ext cx="9915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Initial ICD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04122-5C39-89D8-86FF-2169CD2C3606}"/>
              </a:ext>
            </a:extLst>
          </p:cNvPr>
          <p:cNvSpPr txBox="1"/>
          <p:nvPr/>
        </p:nvSpPr>
        <p:spPr>
          <a:xfrm>
            <a:off x="6096000" y="4377685"/>
            <a:ext cx="9915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Formal ICD</a:t>
            </a:r>
          </a:p>
        </p:txBody>
      </p:sp>
    </p:spTree>
    <p:extLst>
      <p:ext uri="{BB962C8B-B14F-4D97-AF65-F5344CB8AC3E}">
        <p14:creationId xmlns:p14="http://schemas.microsoft.com/office/powerpoint/2010/main" val="306198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8A4B2-27DF-D458-7853-8CE560B3F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730D27-6CAB-167C-A1D5-046ADDEF38C0}"/>
              </a:ext>
            </a:extLst>
          </p:cNvPr>
          <p:cNvSpPr txBox="1"/>
          <p:nvPr/>
        </p:nvSpPr>
        <p:spPr>
          <a:xfrm>
            <a:off x="220362" y="942279"/>
            <a:ext cx="53531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dirty="0"/>
              <a:t>All incoming documents are classified by a router to determine the appropriate processing path. 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</a:t>
            </a:r>
            <a:r>
              <a:rPr lang="en-US" sz="1200" dirty="0" err="1"/>
              <a:t>DoDAF</a:t>
            </a:r>
            <a:r>
              <a:rPr lang="en-US" sz="1200" dirty="0"/>
              <a:t> 2.0 pipeline is triggered when architectural decomposition or mission/context analysis is required. 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</a:t>
            </a:r>
            <a:r>
              <a:rPr lang="en-US" sz="1200" dirty="0" err="1"/>
              <a:t>DoDAF</a:t>
            </a:r>
            <a:r>
              <a:rPr lang="en-US" sz="1200" dirty="0"/>
              <a:t> 2.0 pipeline produces the ICD, F2P summary, and full OV/CV/SV/PV/</a:t>
            </a:r>
            <a:r>
              <a:rPr lang="en-US" sz="1200" dirty="0" err="1"/>
              <a:t>StdV</a:t>
            </a:r>
            <a:r>
              <a:rPr lang="en-US" sz="1200" dirty="0"/>
              <a:t> architectural views. 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initial ICD (HIL-approved) serves as a key input to the JCIDS pipeline for capability development. 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JCIDS pipeline produces CDD, CPD, KPP/KSA bundles, </a:t>
            </a:r>
            <a:r>
              <a:rPr lang="en-US" sz="1200" dirty="0" err="1"/>
              <a:t>DOTmLPF</a:t>
            </a:r>
            <a:r>
              <a:rPr lang="en-US" sz="1200" dirty="0"/>
              <a:t>-P assessments, and traceability artifacts. 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The DAU Systems Engineering pipeline generates SRD, SPS, TEMP, TPMs, and other engineering lifecycle deliverables. 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Each pipeline independently produces formal outputs to support decision-making. 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Together, these pipelines enable a fully traceable flow from architecture → capability → systems engineering.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155EC2-03D8-E53D-2AAB-19FD89237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3028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61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A6D25-1091-BC72-6E5C-537F4996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F70C53-C9F0-2615-5E15-A3C73A53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86" y="168124"/>
            <a:ext cx="9898744" cy="65991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A94A93-BCAE-58F8-85A7-150BD4B3E754}"/>
              </a:ext>
            </a:extLst>
          </p:cNvPr>
          <p:cNvSpPr/>
          <p:nvPr/>
        </p:nvSpPr>
        <p:spPr>
          <a:xfrm>
            <a:off x="6952343" y="580571"/>
            <a:ext cx="812800" cy="333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9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ECB21-5889-8059-4886-1D471223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0709D1B9-F327-5057-90C4-681E6D252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739" y="350965"/>
            <a:ext cx="2551035" cy="6156070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62BA11-132E-E42F-7B7F-0A12C9949F1B}"/>
              </a:ext>
            </a:extLst>
          </p:cNvPr>
          <p:cNvSpPr/>
          <p:nvPr/>
        </p:nvSpPr>
        <p:spPr>
          <a:xfrm>
            <a:off x="1164771" y="849085"/>
            <a:ext cx="1447800" cy="33745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Incoming Docs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0E9840-CEF3-486C-B3B7-1C685F668669}"/>
              </a:ext>
            </a:extLst>
          </p:cNvPr>
          <p:cNvSpPr/>
          <p:nvPr/>
        </p:nvSpPr>
        <p:spPr>
          <a:xfrm>
            <a:off x="2825653" y="849085"/>
            <a:ext cx="1741714" cy="33745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AA93E-1E7F-EFDB-BD0B-7FAD33CF5A47}"/>
              </a:ext>
            </a:extLst>
          </p:cNvPr>
          <p:cNvSpPr/>
          <p:nvPr/>
        </p:nvSpPr>
        <p:spPr>
          <a:xfrm>
            <a:off x="2841982" y="1507670"/>
            <a:ext cx="1741714" cy="25037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Principle Orchestrator</a:t>
            </a:r>
          </a:p>
        </p:txBody>
      </p:sp>
    </p:spTree>
    <p:extLst>
      <p:ext uri="{BB962C8B-B14F-4D97-AF65-F5344CB8AC3E}">
        <p14:creationId xmlns:p14="http://schemas.microsoft.com/office/powerpoint/2010/main" val="278629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User outline">
            <a:extLst>
              <a:ext uri="{FF2B5EF4-FFF2-40B4-BE49-F238E27FC236}">
                <a16:creationId xmlns:a16="http://schemas.microsoft.com/office/drawing/2014/main" id="{266217C6-2562-C840-2911-7E82AED7F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979" y="246510"/>
            <a:ext cx="836140" cy="8361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81DDDE-81BD-E487-6788-3AD3AF8ED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791" y="1406970"/>
            <a:ext cx="1602701" cy="8550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5F7C63-3F07-20DD-9B16-CF2D8B5B6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245" y="3435035"/>
            <a:ext cx="1608281" cy="9414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B795D6-AF89-8FAB-13DA-1648F2D4C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7388" y="2609214"/>
            <a:ext cx="1610400" cy="845685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5722447-7595-4372-61DB-90FFC6C7F156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937142" y="920203"/>
            <a:ext cx="0" cy="486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C7A5453-5604-180A-F273-9FAB93BB6C1E}"/>
              </a:ext>
            </a:extLst>
          </p:cNvPr>
          <p:cNvCxnSpPr>
            <a:cxnSpLocks/>
            <a:endCxn id="2073" idx="1"/>
          </p:cNvCxnSpPr>
          <p:nvPr/>
        </p:nvCxnSpPr>
        <p:spPr>
          <a:xfrm>
            <a:off x="667265" y="728737"/>
            <a:ext cx="5672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8264DE2-1D96-188E-5FDC-DAF0BBE33692}"/>
              </a:ext>
            </a:extLst>
          </p:cNvPr>
          <p:cNvCxnSpPr>
            <a:cxnSpLocks/>
          </p:cNvCxnSpPr>
          <p:nvPr/>
        </p:nvCxnSpPr>
        <p:spPr>
          <a:xfrm>
            <a:off x="5816434" y="613261"/>
            <a:ext cx="1222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0D7AFF6-F710-EC5A-B2A1-F339D34D8A0D}"/>
              </a:ext>
            </a:extLst>
          </p:cNvPr>
          <p:cNvCxnSpPr>
            <a:cxnSpLocks/>
          </p:cNvCxnSpPr>
          <p:nvPr/>
        </p:nvCxnSpPr>
        <p:spPr>
          <a:xfrm>
            <a:off x="5775875" y="1363114"/>
            <a:ext cx="1881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2B76F8-212E-97D5-93F6-7CBD7818F327}"/>
              </a:ext>
            </a:extLst>
          </p:cNvPr>
          <p:cNvCxnSpPr>
            <a:cxnSpLocks/>
          </p:cNvCxnSpPr>
          <p:nvPr/>
        </p:nvCxnSpPr>
        <p:spPr>
          <a:xfrm>
            <a:off x="5756175" y="2165669"/>
            <a:ext cx="43515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E87F5B1-11F6-F534-3407-469B576FFF5F}"/>
              </a:ext>
            </a:extLst>
          </p:cNvPr>
          <p:cNvCxnSpPr>
            <a:cxnSpLocks/>
          </p:cNvCxnSpPr>
          <p:nvPr/>
        </p:nvCxnSpPr>
        <p:spPr>
          <a:xfrm flipH="1">
            <a:off x="2596183" y="4195495"/>
            <a:ext cx="7163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79FF871-B9CC-2CB7-AB87-9CC2F0BB28D4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5808354" y="3017907"/>
            <a:ext cx="1849034" cy="14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9FA803DE-8811-77BA-17A7-66C59FA8F9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312" y="4568658"/>
            <a:ext cx="1566153" cy="876300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BF852F9-00E0-B98D-EE46-8FCD8B4E5044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2669465" y="5006808"/>
            <a:ext cx="7620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065" name="Picture 2064">
            <a:extLst>
              <a:ext uri="{FF2B5EF4-FFF2-40B4-BE49-F238E27FC236}">
                <a16:creationId xmlns:a16="http://schemas.microsoft.com/office/drawing/2014/main" id="{3F7BF502-5135-E148-7967-93BA393253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312" y="5742531"/>
            <a:ext cx="1552191" cy="855021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2073" name="Picture 8" descr="PlantUML diagram">
            <a:extLst>
              <a:ext uri="{FF2B5EF4-FFF2-40B4-BE49-F238E27FC236}">
                <a16:creationId xmlns:a16="http://schemas.microsoft.com/office/drawing/2014/main" id="{65194FC7-497A-E25A-6385-3EF5082FB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500" y="340778"/>
            <a:ext cx="1523449" cy="77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93" name="Elbow Connector 2092">
            <a:extLst>
              <a:ext uri="{FF2B5EF4-FFF2-40B4-BE49-F238E27FC236}">
                <a16:creationId xmlns:a16="http://schemas.microsoft.com/office/drawing/2014/main" id="{6D23673F-9C49-57AC-1297-B7C08BA6D06B}"/>
              </a:ext>
            </a:extLst>
          </p:cNvPr>
          <p:cNvCxnSpPr>
            <a:cxnSpLocks/>
            <a:stCxn id="2065" idx="1"/>
          </p:cNvCxnSpPr>
          <p:nvPr/>
        </p:nvCxnSpPr>
        <p:spPr>
          <a:xfrm rot="10800000">
            <a:off x="456770" y="1082650"/>
            <a:ext cx="646543" cy="50873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2114" name="Picture 2113">
            <a:extLst>
              <a:ext uri="{FF2B5EF4-FFF2-40B4-BE49-F238E27FC236}">
                <a16:creationId xmlns:a16="http://schemas.microsoft.com/office/drawing/2014/main" id="{5860F93D-A97A-CAB6-CA6E-EA46CAD27C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791" y="2435121"/>
            <a:ext cx="1565103" cy="863937"/>
          </a:xfrm>
          <a:prstGeom prst="rect">
            <a:avLst/>
          </a:prstGeom>
        </p:spPr>
      </p:pic>
      <p:cxnSp>
        <p:nvCxnSpPr>
          <p:cNvPr id="2115" name="Straight Arrow Connector 2114">
            <a:extLst>
              <a:ext uri="{FF2B5EF4-FFF2-40B4-BE49-F238E27FC236}">
                <a16:creationId xmlns:a16="http://schemas.microsoft.com/office/drawing/2014/main" id="{1C636E46-B444-67C9-320A-85D4F000666F}"/>
              </a:ext>
            </a:extLst>
          </p:cNvPr>
          <p:cNvCxnSpPr>
            <a:cxnSpLocks/>
          </p:cNvCxnSpPr>
          <p:nvPr/>
        </p:nvCxnSpPr>
        <p:spPr>
          <a:xfrm>
            <a:off x="1942751" y="2178863"/>
            <a:ext cx="0" cy="349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23" name="Elbow Connector 2122">
            <a:extLst>
              <a:ext uri="{FF2B5EF4-FFF2-40B4-BE49-F238E27FC236}">
                <a16:creationId xmlns:a16="http://schemas.microsoft.com/office/drawing/2014/main" id="{164ED9A3-B8CD-54AA-F5D2-3DAB9D8D6BDF}"/>
              </a:ext>
            </a:extLst>
          </p:cNvPr>
          <p:cNvCxnSpPr>
            <a:cxnSpLocks/>
            <a:stCxn id="15" idx="1"/>
            <a:endCxn id="21" idx="1"/>
          </p:cNvCxnSpPr>
          <p:nvPr/>
        </p:nvCxnSpPr>
        <p:spPr>
          <a:xfrm rot="10800000" flipV="1">
            <a:off x="1077245" y="1834480"/>
            <a:ext cx="58546" cy="2071272"/>
          </a:xfrm>
          <a:prstGeom prst="bentConnector3">
            <a:avLst>
              <a:gd name="adj1" fmla="val 490462"/>
            </a:avLst>
          </a:prstGeom>
          <a:ln w="952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32" name="Straight Arrow Connector 2131">
            <a:extLst>
              <a:ext uri="{FF2B5EF4-FFF2-40B4-BE49-F238E27FC236}">
                <a16:creationId xmlns:a16="http://schemas.microsoft.com/office/drawing/2014/main" id="{32BE8762-2B21-1211-20E7-BDD22F6B4BDC}"/>
              </a:ext>
            </a:extLst>
          </p:cNvPr>
          <p:cNvCxnSpPr>
            <a:cxnSpLocks/>
          </p:cNvCxnSpPr>
          <p:nvPr/>
        </p:nvCxnSpPr>
        <p:spPr>
          <a:xfrm flipV="1">
            <a:off x="2596183" y="3626346"/>
            <a:ext cx="733061" cy="2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44" name="TextBox 2143">
            <a:extLst>
              <a:ext uri="{FF2B5EF4-FFF2-40B4-BE49-F238E27FC236}">
                <a16:creationId xmlns:a16="http://schemas.microsoft.com/office/drawing/2014/main" id="{6E297844-C553-47BD-CDA3-329CC58F2009}"/>
              </a:ext>
            </a:extLst>
          </p:cNvPr>
          <p:cNvSpPr txBox="1"/>
          <p:nvPr/>
        </p:nvSpPr>
        <p:spPr>
          <a:xfrm>
            <a:off x="2559475" y="3344131"/>
            <a:ext cx="7465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Pipeline</a:t>
            </a:r>
          </a:p>
          <a:p>
            <a:endParaRPr lang="en-US" sz="1100" b="1" dirty="0"/>
          </a:p>
          <a:p>
            <a:r>
              <a:rPr lang="en-US" sz="1100" b="1" dirty="0"/>
              <a:t> trigger</a:t>
            </a:r>
          </a:p>
        </p:txBody>
      </p:sp>
      <p:cxnSp>
        <p:nvCxnSpPr>
          <p:cNvPr id="2179" name="Straight Arrow Connector 2178">
            <a:extLst>
              <a:ext uri="{FF2B5EF4-FFF2-40B4-BE49-F238E27FC236}">
                <a16:creationId xmlns:a16="http://schemas.microsoft.com/office/drawing/2014/main" id="{64CD881B-140B-48B7-AB58-9D4C905EF548}"/>
              </a:ext>
            </a:extLst>
          </p:cNvPr>
          <p:cNvCxnSpPr>
            <a:cxnSpLocks/>
          </p:cNvCxnSpPr>
          <p:nvPr/>
        </p:nvCxnSpPr>
        <p:spPr>
          <a:xfrm>
            <a:off x="5816434" y="6191384"/>
            <a:ext cx="32789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87" name="TextBox 2186">
            <a:extLst>
              <a:ext uri="{FF2B5EF4-FFF2-40B4-BE49-F238E27FC236}">
                <a16:creationId xmlns:a16="http://schemas.microsoft.com/office/drawing/2014/main" id="{87B2A204-DA2B-F144-B1F0-81207C4F11B5}"/>
              </a:ext>
            </a:extLst>
          </p:cNvPr>
          <p:cNvSpPr txBox="1"/>
          <p:nvPr/>
        </p:nvSpPr>
        <p:spPr>
          <a:xfrm>
            <a:off x="612541" y="277969"/>
            <a:ext cx="621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/>
              <a:t>User Upload</a:t>
            </a:r>
          </a:p>
        </p:txBody>
      </p:sp>
      <p:sp>
        <p:nvSpPr>
          <p:cNvPr id="2189" name="TextBox 2188">
            <a:extLst>
              <a:ext uri="{FF2B5EF4-FFF2-40B4-BE49-F238E27FC236}">
                <a16:creationId xmlns:a16="http://schemas.microsoft.com/office/drawing/2014/main" id="{DD35ACDB-795E-FC14-396E-BD2749171003}"/>
              </a:ext>
            </a:extLst>
          </p:cNvPr>
          <p:cNvSpPr txBox="1"/>
          <p:nvPr/>
        </p:nvSpPr>
        <p:spPr>
          <a:xfrm>
            <a:off x="1974621" y="1096252"/>
            <a:ext cx="998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Extraction + MD Transform</a:t>
            </a:r>
          </a:p>
        </p:txBody>
      </p:sp>
      <p:sp>
        <p:nvSpPr>
          <p:cNvPr id="2195" name="TextBox 2194">
            <a:extLst>
              <a:ext uri="{FF2B5EF4-FFF2-40B4-BE49-F238E27FC236}">
                <a16:creationId xmlns:a16="http://schemas.microsoft.com/office/drawing/2014/main" id="{0CE70035-A748-7557-F0A1-889FBE1C1679}"/>
              </a:ext>
            </a:extLst>
          </p:cNvPr>
          <p:cNvSpPr txBox="1"/>
          <p:nvPr/>
        </p:nvSpPr>
        <p:spPr>
          <a:xfrm>
            <a:off x="5937660" y="1041801"/>
            <a:ext cx="151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Rules Evaluation (F2P, ICD, OV, SV, PV)</a:t>
            </a:r>
          </a:p>
        </p:txBody>
      </p:sp>
      <p:sp>
        <p:nvSpPr>
          <p:cNvPr id="2199" name="TextBox 2198">
            <a:extLst>
              <a:ext uri="{FF2B5EF4-FFF2-40B4-BE49-F238E27FC236}">
                <a16:creationId xmlns:a16="http://schemas.microsoft.com/office/drawing/2014/main" id="{44CA5057-EEAC-4C47-1568-F41F1D7AE672}"/>
              </a:ext>
            </a:extLst>
          </p:cNvPr>
          <p:cNvSpPr txBox="1"/>
          <p:nvPr/>
        </p:nvSpPr>
        <p:spPr>
          <a:xfrm>
            <a:off x="6045388" y="150030"/>
            <a:ext cx="93889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Governed Data Retrieval (Stages 2–5)</a:t>
            </a:r>
          </a:p>
        </p:txBody>
      </p:sp>
      <p:sp>
        <p:nvSpPr>
          <p:cNvPr id="2200" name="TextBox 2199">
            <a:extLst>
              <a:ext uri="{FF2B5EF4-FFF2-40B4-BE49-F238E27FC236}">
                <a16:creationId xmlns:a16="http://schemas.microsoft.com/office/drawing/2014/main" id="{8471BFAF-875C-51C2-01D7-0062E99E8CDA}"/>
              </a:ext>
            </a:extLst>
          </p:cNvPr>
          <p:cNvSpPr txBox="1"/>
          <p:nvPr/>
        </p:nvSpPr>
        <p:spPr>
          <a:xfrm>
            <a:off x="9267788" y="110595"/>
            <a:ext cx="1047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Enterprise Queries</a:t>
            </a:r>
          </a:p>
        </p:txBody>
      </p:sp>
      <p:sp>
        <p:nvSpPr>
          <p:cNvPr id="2201" name="TextBox 2200">
            <a:extLst>
              <a:ext uri="{FF2B5EF4-FFF2-40B4-BE49-F238E27FC236}">
                <a16:creationId xmlns:a16="http://schemas.microsoft.com/office/drawing/2014/main" id="{F0C0EB77-E014-8E95-5E6D-F27FF7F20856}"/>
              </a:ext>
            </a:extLst>
          </p:cNvPr>
          <p:cNvSpPr txBox="1"/>
          <p:nvPr/>
        </p:nvSpPr>
        <p:spPr>
          <a:xfrm>
            <a:off x="6109296" y="1911036"/>
            <a:ext cx="256646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Write OV Graph (DM2 Notes &amp; Edges)</a:t>
            </a:r>
          </a:p>
        </p:txBody>
      </p:sp>
      <p:sp>
        <p:nvSpPr>
          <p:cNvPr id="2202" name="TextBox 2201">
            <a:extLst>
              <a:ext uri="{FF2B5EF4-FFF2-40B4-BE49-F238E27FC236}">
                <a16:creationId xmlns:a16="http://schemas.microsoft.com/office/drawing/2014/main" id="{7D939537-310C-D3C1-7C7B-2A23BF8F8ECC}"/>
              </a:ext>
            </a:extLst>
          </p:cNvPr>
          <p:cNvSpPr txBox="1"/>
          <p:nvPr/>
        </p:nvSpPr>
        <p:spPr>
          <a:xfrm>
            <a:off x="6058938" y="3967121"/>
            <a:ext cx="28302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Generate </a:t>
            </a:r>
            <a:r>
              <a:rPr lang="en-US" sz="900" dirty="0" err="1"/>
              <a:t>SysML</a:t>
            </a:r>
            <a:r>
              <a:rPr lang="en-US" sz="900" dirty="0"/>
              <a:t> (SV/</a:t>
            </a:r>
            <a:r>
              <a:rPr lang="en-US" sz="900" dirty="0" err="1"/>
              <a:t>SvcV</a:t>
            </a:r>
            <a:r>
              <a:rPr lang="en-US" sz="900" dirty="0"/>
              <a:t> Models)</a:t>
            </a:r>
          </a:p>
        </p:txBody>
      </p:sp>
      <p:sp>
        <p:nvSpPr>
          <p:cNvPr id="2204" name="TextBox 2203">
            <a:extLst>
              <a:ext uri="{FF2B5EF4-FFF2-40B4-BE49-F238E27FC236}">
                <a16:creationId xmlns:a16="http://schemas.microsoft.com/office/drawing/2014/main" id="{9B88A0C7-96C9-0D9A-3B5F-C1E1F89BF8BC}"/>
              </a:ext>
            </a:extLst>
          </p:cNvPr>
          <p:cNvSpPr txBox="1"/>
          <p:nvPr/>
        </p:nvSpPr>
        <p:spPr>
          <a:xfrm>
            <a:off x="5951260" y="2773106"/>
            <a:ext cx="16104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Store Stage Output/artifacts</a:t>
            </a:r>
          </a:p>
        </p:txBody>
      </p:sp>
      <p:sp>
        <p:nvSpPr>
          <p:cNvPr id="2207" name="TextBox 2206">
            <a:extLst>
              <a:ext uri="{FF2B5EF4-FFF2-40B4-BE49-F238E27FC236}">
                <a16:creationId xmlns:a16="http://schemas.microsoft.com/office/drawing/2014/main" id="{F8805A99-3D34-748F-647D-95AECAD3DD61}"/>
              </a:ext>
            </a:extLst>
          </p:cNvPr>
          <p:cNvSpPr txBox="1"/>
          <p:nvPr/>
        </p:nvSpPr>
        <p:spPr>
          <a:xfrm>
            <a:off x="5934440" y="5948612"/>
            <a:ext cx="1651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Write Stage transactions</a:t>
            </a:r>
          </a:p>
        </p:txBody>
      </p:sp>
      <p:sp>
        <p:nvSpPr>
          <p:cNvPr id="2208" name="TextBox 2207">
            <a:extLst>
              <a:ext uri="{FF2B5EF4-FFF2-40B4-BE49-F238E27FC236}">
                <a16:creationId xmlns:a16="http://schemas.microsoft.com/office/drawing/2014/main" id="{0EAB4593-4C39-5201-994B-B0601D896DA6}"/>
              </a:ext>
            </a:extLst>
          </p:cNvPr>
          <p:cNvSpPr txBox="1"/>
          <p:nvPr/>
        </p:nvSpPr>
        <p:spPr>
          <a:xfrm>
            <a:off x="6046079" y="4900749"/>
            <a:ext cx="1517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Write DM2 Relational Model</a:t>
            </a:r>
          </a:p>
        </p:txBody>
      </p:sp>
      <p:sp>
        <p:nvSpPr>
          <p:cNvPr id="2210" name="TextBox 2209">
            <a:extLst>
              <a:ext uri="{FF2B5EF4-FFF2-40B4-BE49-F238E27FC236}">
                <a16:creationId xmlns:a16="http://schemas.microsoft.com/office/drawing/2014/main" id="{B6894FDC-45E1-023C-7EBB-C5201C2B451C}"/>
              </a:ext>
            </a:extLst>
          </p:cNvPr>
          <p:cNvSpPr txBox="1"/>
          <p:nvPr/>
        </p:nvSpPr>
        <p:spPr>
          <a:xfrm>
            <a:off x="1937141" y="2162444"/>
            <a:ext cx="106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Write extracted artifacts</a:t>
            </a:r>
          </a:p>
        </p:txBody>
      </p:sp>
      <p:pic>
        <p:nvPicPr>
          <p:cNvPr id="2214" name="Picture 2213">
            <a:extLst>
              <a:ext uri="{FF2B5EF4-FFF2-40B4-BE49-F238E27FC236}">
                <a16:creationId xmlns:a16="http://schemas.microsoft.com/office/drawing/2014/main" id="{B2A2C5D5-48AC-B110-ADEA-CA04D94781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3275" y="1756627"/>
            <a:ext cx="1470282" cy="1571294"/>
          </a:xfrm>
          <a:prstGeom prst="rect">
            <a:avLst/>
          </a:prstGeom>
        </p:spPr>
      </p:pic>
      <p:pic>
        <p:nvPicPr>
          <p:cNvPr id="2215" name="Picture 2214">
            <a:extLst>
              <a:ext uri="{FF2B5EF4-FFF2-40B4-BE49-F238E27FC236}">
                <a16:creationId xmlns:a16="http://schemas.microsoft.com/office/drawing/2014/main" id="{C5E6D9A0-E19B-F5A3-935D-1EDB120EE1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1370" y="3750864"/>
            <a:ext cx="2015876" cy="1156838"/>
          </a:xfrm>
          <a:prstGeom prst="rect">
            <a:avLst/>
          </a:prstGeom>
        </p:spPr>
      </p:pic>
      <p:pic>
        <p:nvPicPr>
          <p:cNvPr id="2216" name="Picture 2215">
            <a:extLst>
              <a:ext uri="{FF2B5EF4-FFF2-40B4-BE49-F238E27FC236}">
                <a16:creationId xmlns:a16="http://schemas.microsoft.com/office/drawing/2014/main" id="{5C76BA11-ADBD-AF0C-5787-02AE9E16CE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5337" y="5604705"/>
            <a:ext cx="2015876" cy="990659"/>
          </a:xfrm>
          <a:prstGeom prst="rect">
            <a:avLst/>
          </a:prstGeom>
        </p:spPr>
      </p:pic>
      <p:pic>
        <p:nvPicPr>
          <p:cNvPr id="2217" name="Picture 2216">
            <a:extLst>
              <a:ext uri="{FF2B5EF4-FFF2-40B4-BE49-F238E27FC236}">
                <a16:creationId xmlns:a16="http://schemas.microsoft.com/office/drawing/2014/main" id="{EE25D28D-7C01-E6EA-5D88-2B45F694B6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86198" y="4755702"/>
            <a:ext cx="1584325" cy="920621"/>
          </a:xfrm>
          <a:prstGeom prst="rect">
            <a:avLst/>
          </a:prstGeom>
        </p:spPr>
      </p:pic>
      <p:pic>
        <p:nvPicPr>
          <p:cNvPr id="2218" name="Picture 2217">
            <a:extLst>
              <a:ext uri="{FF2B5EF4-FFF2-40B4-BE49-F238E27FC236}">
                <a16:creationId xmlns:a16="http://schemas.microsoft.com/office/drawing/2014/main" id="{B0E58319-8EB8-7C61-AD72-591FD5E290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7388" y="1170350"/>
            <a:ext cx="2339290" cy="631941"/>
          </a:xfrm>
          <a:prstGeom prst="rect">
            <a:avLst/>
          </a:prstGeom>
        </p:spPr>
      </p:pic>
      <p:pic>
        <p:nvPicPr>
          <p:cNvPr id="2223" name="Picture 2222">
            <a:extLst>
              <a:ext uri="{FF2B5EF4-FFF2-40B4-BE49-F238E27FC236}">
                <a16:creationId xmlns:a16="http://schemas.microsoft.com/office/drawing/2014/main" id="{68A66641-DDED-4BC3-6BF0-F59D686EDE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52846" y="187917"/>
            <a:ext cx="2302265" cy="662603"/>
          </a:xfrm>
          <a:prstGeom prst="rect">
            <a:avLst/>
          </a:prstGeom>
        </p:spPr>
      </p:pic>
      <p:pic>
        <p:nvPicPr>
          <p:cNvPr id="2226" name="Picture 2225">
            <a:extLst>
              <a:ext uri="{FF2B5EF4-FFF2-40B4-BE49-F238E27FC236}">
                <a16:creationId xmlns:a16="http://schemas.microsoft.com/office/drawing/2014/main" id="{1D09D7DE-1D4E-6428-23F3-CACA6747153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93124" y="173392"/>
            <a:ext cx="2268623" cy="712709"/>
          </a:xfrm>
          <a:prstGeom prst="rect">
            <a:avLst/>
          </a:prstGeom>
        </p:spPr>
      </p:pic>
      <p:cxnSp>
        <p:nvCxnSpPr>
          <p:cNvPr id="2228" name="Straight Arrow Connector 2227">
            <a:extLst>
              <a:ext uri="{FF2B5EF4-FFF2-40B4-BE49-F238E27FC236}">
                <a16:creationId xmlns:a16="http://schemas.microsoft.com/office/drawing/2014/main" id="{BA32EBFD-AB48-B2F1-F23F-5119B568D0D2}"/>
              </a:ext>
            </a:extLst>
          </p:cNvPr>
          <p:cNvCxnSpPr>
            <a:cxnSpLocks/>
            <a:stCxn id="2223" idx="3"/>
            <a:endCxn id="2226" idx="1"/>
          </p:cNvCxnSpPr>
          <p:nvPr/>
        </p:nvCxnSpPr>
        <p:spPr>
          <a:xfrm>
            <a:off x="9355111" y="519219"/>
            <a:ext cx="538013" cy="10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52597A3-DDC5-E756-8B87-BBCFEFC70C0D}"/>
              </a:ext>
            </a:extLst>
          </p:cNvPr>
          <p:cNvSpPr/>
          <p:nvPr/>
        </p:nvSpPr>
        <p:spPr>
          <a:xfrm>
            <a:off x="83972" y="4485438"/>
            <a:ext cx="733189" cy="3509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     HIL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3EDB2-127A-57A1-A616-E374CE964B97}"/>
              </a:ext>
            </a:extLst>
          </p:cNvPr>
          <p:cNvSpPr txBox="1"/>
          <p:nvPr/>
        </p:nvSpPr>
        <p:spPr>
          <a:xfrm>
            <a:off x="21163" y="4829614"/>
            <a:ext cx="10560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Review / Update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2AE861F-10EC-21A1-F1F2-CBD83A3DC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939" y="439294"/>
            <a:ext cx="2551035" cy="6156070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05" name="Straight Arrow Connector 2104">
            <a:extLst>
              <a:ext uri="{FF2B5EF4-FFF2-40B4-BE49-F238E27FC236}">
                <a16:creationId xmlns:a16="http://schemas.microsoft.com/office/drawing/2014/main" id="{8CC32A5C-74B1-1BC3-E703-A52F3BBC9D2F}"/>
              </a:ext>
            </a:extLst>
          </p:cNvPr>
          <p:cNvCxnSpPr>
            <a:cxnSpLocks/>
            <a:endCxn id="2065" idx="3"/>
          </p:cNvCxnSpPr>
          <p:nvPr/>
        </p:nvCxnSpPr>
        <p:spPr>
          <a:xfrm flipH="1">
            <a:off x="2655503" y="6164477"/>
            <a:ext cx="1075116" cy="5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CCF5955-7D60-DD6C-FE02-7B0B915D9834}"/>
              </a:ext>
            </a:extLst>
          </p:cNvPr>
          <p:cNvCxnSpPr>
            <a:cxnSpLocks/>
          </p:cNvCxnSpPr>
          <p:nvPr/>
        </p:nvCxnSpPr>
        <p:spPr>
          <a:xfrm>
            <a:off x="5747323" y="5335406"/>
            <a:ext cx="1586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725BB1-B30F-CA87-F652-ADE4F159A327}"/>
              </a:ext>
            </a:extLst>
          </p:cNvPr>
          <p:cNvCxnSpPr>
            <a:cxnSpLocks/>
          </p:cNvCxnSpPr>
          <p:nvPr/>
        </p:nvCxnSpPr>
        <p:spPr>
          <a:xfrm>
            <a:off x="5662670" y="4195495"/>
            <a:ext cx="4128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0E14C8-1A24-BBAB-5E65-A39700205BA3}"/>
              </a:ext>
            </a:extLst>
          </p:cNvPr>
          <p:cNvSpPr txBox="1"/>
          <p:nvPr/>
        </p:nvSpPr>
        <p:spPr>
          <a:xfrm>
            <a:off x="2678210" y="6203262"/>
            <a:ext cx="6854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Output Reports</a:t>
            </a:r>
          </a:p>
        </p:txBody>
      </p:sp>
      <p:pic>
        <p:nvPicPr>
          <p:cNvPr id="27" name="Graphic 26" descr="User outline">
            <a:extLst>
              <a:ext uri="{FF2B5EF4-FFF2-40B4-BE49-F238E27FC236}">
                <a16:creationId xmlns:a16="http://schemas.microsoft.com/office/drawing/2014/main" id="{BB85B9E0-69CC-1EFC-9561-1244F1082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23" y="4466755"/>
            <a:ext cx="350968" cy="3509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D40563-0603-3EF2-CF14-9F3B74D33E06}"/>
              </a:ext>
            </a:extLst>
          </p:cNvPr>
          <p:cNvSpPr/>
          <p:nvPr/>
        </p:nvSpPr>
        <p:spPr>
          <a:xfrm>
            <a:off x="9893124" y="774563"/>
            <a:ext cx="2268623" cy="228855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Knowledge Catalog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F0D34-E6CC-CB1E-5683-E276A1A7A4D8}"/>
              </a:ext>
            </a:extLst>
          </p:cNvPr>
          <p:cNvSpPr txBox="1"/>
          <p:nvPr/>
        </p:nvSpPr>
        <p:spPr>
          <a:xfrm>
            <a:off x="362545" y="6179444"/>
            <a:ext cx="9915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Initial ICD</a:t>
            </a:r>
          </a:p>
        </p:txBody>
      </p:sp>
    </p:spTree>
    <p:extLst>
      <p:ext uri="{BB962C8B-B14F-4D97-AF65-F5344CB8AC3E}">
        <p14:creationId xmlns:p14="http://schemas.microsoft.com/office/powerpoint/2010/main" val="1364691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1004-59B9-9E69-0216-D32F8907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C71C-8AD4-EDA0-7E43-A3BA2E37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62" y="116016"/>
            <a:ext cx="6909487" cy="90959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Incoming Documents Flow </a:t>
            </a:r>
            <a:br>
              <a:rPr lang="en-US" dirty="0"/>
            </a:br>
            <a:r>
              <a:rPr lang="en-US" sz="3100" dirty="0"/>
              <a:t>Intake &amp; Pre-Processing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EAD79-68FC-C698-A5D6-AAC9E95A99A4}"/>
              </a:ext>
            </a:extLst>
          </p:cNvPr>
          <p:cNvSpPr txBox="1"/>
          <p:nvPr/>
        </p:nvSpPr>
        <p:spPr>
          <a:xfrm>
            <a:off x="220362" y="5549600"/>
            <a:ext cx="3325504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Document Intake Agent: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Listens for uploads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Places documents into S3/</a:t>
            </a:r>
            <a:r>
              <a:rPr lang="en-US" sz="1200" dirty="0" err="1"/>
              <a:t>MinIO</a:t>
            </a:r>
            <a:r>
              <a:rPr lang="en-US" sz="1200" dirty="0"/>
              <a:t>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Sends a pipeline trigger event to Kafka/</a:t>
            </a:r>
            <a:r>
              <a:rPr lang="en-US" sz="1200" dirty="0" err="1"/>
              <a:t>Redpanda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2B5AE-4EAA-48D9-20B1-FC28167153F9}"/>
              </a:ext>
            </a:extLst>
          </p:cNvPr>
          <p:cNvSpPr txBox="1"/>
          <p:nvPr/>
        </p:nvSpPr>
        <p:spPr>
          <a:xfrm>
            <a:off x="8392977" y="4995603"/>
            <a:ext cx="3325504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Markdown output includes: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Extracted 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Hierarchical headings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Tables translated into Markdown table syntax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Bullet lists and callouts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Embedded image references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Metadata (page number, confidence scores, bounding boxes)</a:t>
            </a:r>
          </a:p>
        </p:txBody>
      </p:sp>
      <p:pic>
        <p:nvPicPr>
          <p:cNvPr id="1028" name="Picture 4" descr="jLNDajCu4BxxARfoO4EHB3jGNAXYgpnsaZL9R9TjXhdss4gYYYmRIGRo0Zp0Fk8-2TrsCXaeRcjoSQJ-aRwllsxPezGj6gp17h1glaYzXnqgAppxQAd43ZlbbersCTO29hwHg2Q_ziZTIGdGZQbHFV4medIezqgaM5LyoCshf_6jX9itVptPKL8BTse5j8qwyS9JOkV0DM3a_k2WafnHDjhpl3_WtV__KPOe3f9j5AyWJ88FsqLSv33TH7dnVAGJl4SI-8GSqCB4YtJPr4n8s8J-4bv2lg2_PLSBxQpdpI58uYJDoR2LrX9WA0v6O6NPX2q-I2NT2M8XAajEAsp1rwXELh379MOmvmwTuCGmtSRvSx8dhJ38DAA2Eoc-M9WcT-34LpU3lS7s84lBVld9KYI4mfP6jXp0XqNQ2RF3Kl2D-RYKbbnvJLkP-DHHaNeSC5sdwSjrxWFLjtD3IgAYGaFNUWP1KxTAdiDsmWZwHq7RQ3FFYt06mViWZpWeJ8hj9btEK_0j8RG3I_E14tU-aeAygsiqadDqkbH89Eoag3Y3Ryg3T5I8pWYu9PyTaSzWqhGWVEMHq_rmTyO6qppZ6gHPo8S48LG6IOzNE6cuj3Ekw_sCKztJLbJZdg-GngiPl4zNFUeIjHRLan9FnXFmHRUavC9VBy1VqM9yyPwpz_Azu63YyIZ0tzE2S7veLOCLR2JfHWl3o5zJoHj3b31RiXNSrL1GE-_9FYuB6-xY9CYeLelx8lE38ahYtzB5_KaN9XJtyVdOhyxWCA18dTHF_C47rNVb1azDvnuLmdsAvaZJbvhReBRSGsComjGNIKPo69y3ojt3fo-FA1qbZzKVPCxmpcpGXc-Sf8dHDorDszieNeH_rjMOQDV-Skt3ukwtQ7z8tYDUu-w813eJLSkZx8gJ9su_qeGJiFWyTCHPwVqKtelvpPYG_InBFj9hzJ4g_e6DVxlOvACzMlrJDP__VMdxjp0Poajlrx33naiha3NIdnkQ13_tmSIx-B0_oOLSprPuSTKz_FVjtsixFBiAviVueGwK8kqUbBI7Nr4_yRu3 (2639×457)">
            <a:extLst>
              <a:ext uri="{FF2B5EF4-FFF2-40B4-BE49-F238E27FC236}">
                <a16:creationId xmlns:a16="http://schemas.microsoft.com/office/drawing/2014/main" id="{F7AC6607-8717-161A-A570-A73041DAF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62" y="1986393"/>
            <a:ext cx="11304296" cy="195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65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95A1-75C8-44CE-FD5B-B56A068B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EA20ED-2896-478B-3679-3C3D1D1D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13" y="771848"/>
            <a:ext cx="11215915" cy="5888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E0F213-47B6-4AC5-65B8-746F5446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78" y="128373"/>
            <a:ext cx="6575854" cy="643475"/>
          </a:xfrm>
        </p:spPr>
        <p:txBody>
          <a:bodyPr>
            <a:normAutofit/>
          </a:bodyPr>
          <a:lstStyle/>
          <a:p>
            <a:r>
              <a:rPr lang="en-US" sz="3200" b="1" dirty="0"/>
              <a:t>Pipeline Trigger &amp; Stage-1 (F2P Gate)</a:t>
            </a:r>
            <a:endParaRPr lang="en-US"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172A1-BE6F-C4D3-0785-D20F1F1B4837}"/>
              </a:ext>
            </a:extLst>
          </p:cNvPr>
          <p:cNvSpPr txBox="1"/>
          <p:nvPr/>
        </p:nvSpPr>
        <p:spPr>
          <a:xfrm>
            <a:off x="158578" y="4167134"/>
            <a:ext cx="5080058" cy="24929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Fit-for-Processing (F2P)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Not all documents require a full six-stage </a:t>
            </a:r>
            <a:r>
              <a:rPr lang="en-US" sz="1200" dirty="0" err="1"/>
              <a:t>DoDAF</a:t>
            </a:r>
            <a:r>
              <a:rPr lang="en-US" sz="1200" dirty="0"/>
              <a:t> treatment.</a:t>
            </a:r>
          </a:p>
          <a:p>
            <a:r>
              <a:rPr lang="en-US" sz="1200" dirty="0"/>
              <a:t>For example, a </a:t>
            </a:r>
            <a:r>
              <a:rPr lang="en-US" sz="1200" b="1" dirty="0"/>
              <a:t>Standards</a:t>
            </a:r>
            <a:r>
              <a:rPr lang="en-US" sz="1200" dirty="0"/>
              <a:t> document may not require </a:t>
            </a:r>
            <a:r>
              <a:rPr lang="en-US" sz="1200" b="1" dirty="0"/>
              <a:t>OV</a:t>
            </a:r>
            <a:r>
              <a:rPr lang="en-US" sz="1200" dirty="0"/>
              <a:t> or </a:t>
            </a:r>
            <a:r>
              <a:rPr lang="en-US" sz="1200" b="1" dirty="0"/>
              <a:t>SV</a:t>
            </a:r>
            <a:r>
              <a:rPr lang="en-US" sz="1200" dirty="0"/>
              <a:t> modeling.</a:t>
            </a:r>
          </a:p>
          <a:p>
            <a:endParaRPr lang="en-US" sz="1200" dirty="0"/>
          </a:p>
          <a:p>
            <a:r>
              <a:rPr lang="en-US" sz="1200" b="1" dirty="0"/>
              <a:t>Stage-1 ensures architectural efficiency</a:t>
            </a:r>
            <a:r>
              <a:rPr lang="en-US" sz="1200" dirty="0"/>
              <a:t> by:</a:t>
            </a:r>
          </a:p>
          <a:p>
            <a:r>
              <a:rPr lang="en-US" sz="1200" dirty="0"/>
              <a:t>Preventing unnecessary downstream stages from executing</a:t>
            </a:r>
          </a:p>
          <a:p>
            <a:r>
              <a:rPr lang="en-US" sz="1200" dirty="0"/>
              <a:t>Ensuring only valid, well-formed documents progress through the pipeline</a:t>
            </a: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Drools Rules Engine</a:t>
            </a:r>
            <a:endParaRPr lang="en-US" sz="1200" dirty="0"/>
          </a:p>
          <a:p>
            <a:r>
              <a:rPr lang="en-US" sz="1200" dirty="0"/>
              <a:t>Evaluates document type, mission context, and intended use</a:t>
            </a:r>
          </a:p>
          <a:p>
            <a:r>
              <a:rPr lang="en-US" sz="1200" dirty="0"/>
              <a:t>Determines whether the document is fit for processing and which stages apply</a:t>
            </a:r>
          </a:p>
        </p:txBody>
      </p:sp>
    </p:spTree>
    <p:extLst>
      <p:ext uri="{BB962C8B-B14F-4D97-AF65-F5344CB8AC3E}">
        <p14:creationId xmlns:p14="http://schemas.microsoft.com/office/powerpoint/2010/main" val="278441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28F8-92C1-DCC9-0663-80820891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DDFA301-3964-25C0-B5D6-C28124B31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868" y="128373"/>
            <a:ext cx="10160554" cy="616829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6EC2A71-B68E-D2ED-5064-D08A74F1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78" y="128373"/>
            <a:ext cx="6575854" cy="810741"/>
          </a:xfrm>
        </p:spPr>
        <p:txBody>
          <a:bodyPr>
            <a:noAutofit/>
          </a:bodyPr>
          <a:lstStyle/>
          <a:p>
            <a:r>
              <a:rPr lang="en-US" sz="3200" b="1" dirty="0"/>
              <a:t>Stage-2: Architecture Scope Definition &amp; Initial ICD Creation</a:t>
            </a:r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B23C0D-932C-4DE0-49DA-0911BFD13021}"/>
              </a:ext>
            </a:extLst>
          </p:cNvPr>
          <p:cNvSpPr txBox="1"/>
          <p:nvPr/>
        </p:nvSpPr>
        <p:spPr>
          <a:xfrm>
            <a:off x="158579" y="4093029"/>
            <a:ext cx="5937422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Stage-2 establishes the constraints that shape the architecture</a:t>
            </a:r>
            <a:r>
              <a:rPr lang="en-US" sz="1200" dirty="0"/>
              <a:t>, including technical limitations, mission timelines, interoperability requirements, and applicable policy or standards references derived from the input artifacts.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A key outcome of Stage-2 is the </a:t>
            </a:r>
            <a:r>
              <a:rPr lang="en-US" sz="1200" b="1" dirty="0"/>
              <a:t>initial shaping of the ICD</a:t>
            </a:r>
            <a:r>
              <a:rPr lang="en-US" sz="1200" dirty="0"/>
              <a:t>.</a:t>
            </a:r>
          </a:p>
          <a:p>
            <a:r>
              <a:rPr lang="en-US" sz="1200" dirty="0"/>
              <a:t>Agents generate the early structural sections, including:</a:t>
            </a:r>
          </a:p>
          <a:p>
            <a:r>
              <a:rPr lang="en-US" sz="1200" dirty="0"/>
              <a:t>high-level purpose,</a:t>
            </a:r>
          </a:p>
          <a:p>
            <a:r>
              <a:rPr lang="en-US" sz="1200" dirty="0"/>
              <a:t>mission context,</a:t>
            </a:r>
          </a:p>
          <a:p>
            <a:r>
              <a:rPr lang="en-US" sz="1200" dirty="0"/>
              <a:t>capability gaps,</a:t>
            </a:r>
          </a:p>
          <a:p>
            <a:r>
              <a:rPr lang="en-US" sz="1200" dirty="0"/>
              <a:t>stakeholder groupings, and</a:t>
            </a:r>
          </a:p>
          <a:p>
            <a:r>
              <a:rPr lang="en-US" sz="1200" dirty="0"/>
              <a:t>the scope statement.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This forms the </a:t>
            </a:r>
            <a:r>
              <a:rPr lang="en-US" sz="1200" b="1" dirty="0"/>
              <a:t>architectural foundation</a:t>
            </a:r>
            <a:r>
              <a:rPr lang="en-US" sz="1200" dirty="0"/>
              <a:t> that subsequent stages—</a:t>
            </a:r>
            <a:r>
              <a:rPr lang="en-US" sz="1200" b="1" dirty="0"/>
              <a:t>OV, SV, </a:t>
            </a:r>
            <a:r>
              <a:rPr lang="en-US" sz="1200" b="1" dirty="0" err="1"/>
              <a:t>SvcV</a:t>
            </a:r>
            <a:r>
              <a:rPr lang="en-US" sz="1200" b="1" dirty="0"/>
              <a:t>, and PV</a:t>
            </a:r>
            <a:r>
              <a:rPr lang="en-US" sz="1200" dirty="0"/>
              <a:t>—progressively enrich and complete.</a:t>
            </a:r>
          </a:p>
        </p:txBody>
      </p:sp>
    </p:spTree>
    <p:extLst>
      <p:ext uri="{BB962C8B-B14F-4D97-AF65-F5344CB8AC3E}">
        <p14:creationId xmlns:p14="http://schemas.microsoft.com/office/powerpoint/2010/main" val="4056971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9CB0D-B63B-30D3-34D3-FB741814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421E31-FD78-BB35-B7AE-25764B61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97" y="622250"/>
            <a:ext cx="11925512" cy="518346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D9D53EF-8295-69AE-7F77-5B5A83E0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0" y="0"/>
            <a:ext cx="7898027" cy="81074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Stage-3: Identify &amp; Structure Operational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7F17EF-C85E-6574-A8F9-784B73744E66}"/>
              </a:ext>
            </a:extLst>
          </p:cNvPr>
          <p:cNvSpPr txBox="1"/>
          <p:nvPr/>
        </p:nvSpPr>
        <p:spPr>
          <a:xfrm>
            <a:off x="109150" y="4259558"/>
            <a:ext cx="5402181" cy="2477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b="1" dirty="0"/>
              <a:t>The goal of Stage-3 is to identify and structure all operational data required to accurately represent the mission context.</a:t>
            </a:r>
            <a:endParaRPr lang="en-US" sz="1100" dirty="0"/>
          </a:p>
          <a:p>
            <a:r>
              <a:rPr lang="en-US" sz="1100" dirty="0"/>
              <a:t>Stage-3 does </a:t>
            </a:r>
            <a:r>
              <a:rPr lang="en-US" sz="1100" b="1" dirty="0"/>
              <a:t>not</a:t>
            </a:r>
            <a:r>
              <a:rPr lang="en-US" sz="1100" dirty="0"/>
              <a:t> generate views; it produces the </a:t>
            </a:r>
            <a:r>
              <a:rPr lang="en-US" sz="1100" b="1" dirty="0"/>
              <a:t>data foundation</a:t>
            </a:r>
            <a:r>
              <a:rPr lang="en-US" sz="1100" dirty="0"/>
              <a:t> used to construct views downstream.</a:t>
            </a:r>
            <a:br>
              <a:rPr lang="en-US" sz="1100" dirty="0"/>
            </a:br>
            <a:endParaRPr lang="en-US" sz="1100" dirty="0"/>
          </a:p>
          <a:p>
            <a:r>
              <a:rPr lang="en-US" sz="1100" dirty="0"/>
              <a:t>This includes extracting operational activities, tasks, mission flows, operational performers (units, roles, organizations), and the interactions between them.</a:t>
            </a:r>
            <a:br>
              <a:rPr lang="en-US" sz="1100" dirty="0"/>
            </a:br>
            <a:endParaRPr lang="en-US" sz="1100" dirty="0"/>
          </a:p>
          <a:p>
            <a:r>
              <a:rPr lang="en-US" sz="1100" dirty="0"/>
              <a:t>A key distinction is that </a:t>
            </a:r>
            <a:r>
              <a:rPr lang="en-US" sz="1100" b="1" dirty="0"/>
              <a:t>Stage-3 operates on structured architectural facts, not unstructured knowledge</a:t>
            </a:r>
            <a:r>
              <a:rPr lang="en-US" sz="1100" dirty="0"/>
              <a:t>.</a:t>
            </a:r>
          </a:p>
          <a:p>
            <a:r>
              <a:rPr lang="en-US" sz="1100" dirty="0"/>
              <a:t>Database-layer agents may query the </a:t>
            </a:r>
            <a:r>
              <a:rPr lang="en-US" sz="1100" b="1" dirty="0"/>
              <a:t>DM2 Graph Store (Neo4j)</a:t>
            </a:r>
            <a:r>
              <a:rPr lang="en-US" sz="1100" dirty="0"/>
              <a:t> or </a:t>
            </a:r>
            <a:r>
              <a:rPr lang="en-US" sz="1100" b="1" dirty="0"/>
              <a:t>ADR relational tables (PostgreSQL)</a:t>
            </a:r>
            <a:r>
              <a:rPr lang="en-US" sz="1100" dirty="0"/>
              <a:t> to validate performer names, link activities, infer relationships, and fill gaps using authoritative DM2-aligned data.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5917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0458-F7FD-3FCB-14DA-EE8D4099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94005C-A333-7193-AB57-4DD0FF091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30" y="183693"/>
            <a:ext cx="11568849" cy="65550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60FCAE-1233-D704-2BE7-492B16F21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6082450" cy="76609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Stage 4: Collect &amp; Correlate Data</a:t>
            </a:r>
            <a:br>
              <a:rPr lang="en-US" sz="3200" b="1" dirty="0"/>
            </a:br>
            <a:r>
              <a:rPr lang="en-US" sz="2700" b="1" dirty="0"/>
              <a:t>System/Services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0B53F-B5DB-A321-EEF5-D0548100CCBD}"/>
              </a:ext>
            </a:extLst>
          </p:cNvPr>
          <p:cNvSpPr txBox="1"/>
          <p:nvPr/>
        </p:nvSpPr>
        <p:spPr>
          <a:xfrm>
            <a:off x="187721" y="4788747"/>
            <a:ext cx="4790679" cy="18004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b="1" dirty="0"/>
              <a:t>Stage-4 is strongly DM2-driven.</a:t>
            </a:r>
            <a:endParaRPr lang="en-US" sz="1100" dirty="0"/>
          </a:p>
          <a:p>
            <a:r>
              <a:rPr lang="en-US" sz="1100" dirty="0"/>
              <a:t>Database-layer agents query the </a:t>
            </a:r>
            <a:r>
              <a:rPr lang="en-US" sz="1100" b="1" dirty="0"/>
              <a:t>Neo4j DM2 Graph Store</a:t>
            </a:r>
            <a:r>
              <a:rPr lang="en-US" sz="1100" dirty="0"/>
              <a:t> and the </a:t>
            </a:r>
            <a:r>
              <a:rPr lang="en-US" sz="1100" b="1" dirty="0"/>
              <a:t>ADR relational model</a:t>
            </a:r>
            <a:r>
              <a:rPr lang="en-US" sz="1100" dirty="0"/>
              <a:t> to validate system and service names, relate operational tasks to system functions, and confirm interfaces that already exist in authoritative architecture repositories.</a:t>
            </a:r>
            <a:br>
              <a:rPr lang="en-US" sz="1100" dirty="0"/>
            </a:br>
            <a:endParaRPr lang="en-US" sz="1100" dirty="0"/>
          </a:p>
          <a:p>
            <a:r>
              <a:rPr lang="en-US" sz="1100" dirty="0"/>
              <a:t>This ensures that </a:t>
            </a:r>
            <a:r>
              <a:rPr lang="en-US" sz="1100" b="1" dirty="0"/>
              <a:t>SV and </a:t>
            </a:r>
            <a:r>
              <a:rPr lang="en-US" sz="1100" b="1" dirty="0" err="1"/>
              <a:t>SvcV</a:t>
            </a:r>
            <a:r>
              <a:rPr lang="en-US" sz="1100" b="1" dirty="0"/>
              <a:t> artifacts are accurate, complete, and consistent with established DoD system architectures</a:t>
            </a:r>
            <a:r>
              <a:rPr lang="en-US" sz="1100" dirty="0"/>
              <a:t>, rather than being derived ad-hoc or inferred from unstructured input.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47220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4AE2-D8A2-9748-F3E6-4583B9A1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B3848F-89B7-E164-667D-76A7944C9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78" y="173831"/>
            <a:ext cx="11336967" cy="65103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4DD10F-13BA-C3AE-E94D-79B1573F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5500818" cy="877329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Stage-5: Performance &amp; Standards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317E9C-D7AC-2A09-FE2B-113F78C9F2CB}"/>
              </a:ext>
            </a:extLst>
          </p:cNvPr>
          <p:cNvSpPr txBox="1"/>
          <p:nvPr/>
        </p:nvSpPr>
        <p:spPr>
          <a:xfrm>
            <a:off x="100290" y="4527932"/>
            <a:ext cx="5187806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b="1" dirty="0"/>
              <a:t>Stage-5 is the primary analytical stage of the </a:t>
            </a:r>
            <a:r>
              <a:rPr lang="en-US" sz="1100" b="1" dirty="0" err="1"/>
              <a:t>DoDAF</a:t>
            </a:r>
            <a:r>
              <a:rPr lang="en-US" sz="1100" b="1" dirty="0"/>
              <a:t> pipeline.</a:t>
            </a:r>
            <a:endParaRPr lang="en-US" sz="1100" dirty="0"/>
          </a:p>
          <a:p>
            <a:r>
              <a:rPr lang="en-US" sz="1100" dirty="0"/>
              <a:t>Its key value lies in the </a:t>
            </a:r>
            <a:r>
              <a:rPr lang="en-US" sz="1100" b="1" dirty="0"/>
              <a:t>correlation and analysis</a:t>
            </a:r>
            <a:r>
              <a:rPr lang="en-US" sz="1100" dirty="0"/>
              <a:t> of architectural data produced in earlier stages.</a:t>
            </a:r>
            <a:br>
              <a:rPr lang="en-US" sz="1100" dirty="0"/>
            </a:br>
            <a:endParaRPr lang="en-US" sz="1100" dirty="0"/>
          </a:p>
          <a:p>
            <a:r>
              <a:rPr lang="en-US" sz="1100" dirty="0"/>
              <a:t>Stage-5 evaluates how </a:t>
            </a:r>
            <a:r>
              <a:rPr lang="en-US" sz="1100" b="1" dirty="0"/>
              <a:t>performance measures, metrics, and standards</a:t>
            </a:r>
            <a:r>
              <a:rPr lang="en-US" sz="1100" dirty="0"/>
              <a:t> relate to the </a:t>
            </a:r>
            <a:r>
              <a:rPr lang="en-US" sz="1100" b="1" dirty="0"/>
              <a:t>systems, services, and operational tasks</a:t>
            </a:r>
            <a:r>
              <a:rPr lang="en-US" sz="1100" dirty="0"/>
              <a:t> identified in preceding stages.</a:t>
            </a:r>
          </a:p>
          <a:p>
            <a:endParaRPr lang="en-US" sz="1100" dirty="0"/>
          </a:p>
          <a:p>
            <a:r>
              <a:rPr lang="en-US" sz="1100" dirty="0"/>
              <a:t>The result is a </a:t>
            </a:r>
            <a:r>
              <a:rPr lang="en-US" sz="1100" b="1" dirty="0"/>
              <a:t>comprehensive PV / </a:t>
            </a:r>
            <a:r>
              <a:rPr lang="en-US" sz="1100" b="1" dirty="0" err="1"/>
              <a:t>StdV</a:t>
            </a:r>
            <a:r>
              <a:rPr lang="en-US" sz="1100" b="1" dirty="0"/>
              <a:t> baseline</a:t>
            </a:r>
            <a:r>
              <a:rPr lang="en-US" sz="1100" dirty="0"/>
              <a:t> that captures:</a:t>
            </a:r>
          </a:p>
          <a:p>
            <a:r>
              <a:rPr lang="en-US" sz="1100" dirty="0"/>
              <a:t>required performance characteristics,</a:t>
            </a:r>
          </a:p>
          <a:p>
            <a:r>
              <a:rPr lang="en-US" sz="1100" dirty="0"/>
              <a:t>measurable evaluation criteria,</a:t>
            </a:r>
          </a:p>
          <a:p>
            <a:r>
              <a:rPr lang="en-US" sz="1100" dirty="0"/>
              <a:t>governing standards and compliance constraints, and</a:t>
            </a:r>
          </a:p>
          <a:p>
            <a:r>
              <a:rPr lang="en-US" sz="1100" dirty="0"/>
              <a:t>technical limits that influence system behavior and design.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078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6E07-FA6A-1C9D-2223-62B513A3E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>
            <a:extLst>
              <a:ext uri="{FF2B5EF4-FFF2-40B4-BE49-F238E27FC236}">
                <a16:creationId xmlns:a16="http://schemas.microsoft.com/office/drawing/2014/main" id="{1490AED7-0787-A3D8-4F81-E34F726B4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185" y="274665"/>
            <a:ext cx="9870431" cy="658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5B54913-F946-9F3E-CB13-C125ECC3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5500818" cy="877329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Stage-6: Final Deliverables </a:t>
            </a:r>
            <a:br>
              <a:rPr lang="en-US" sz="3200" b="1" dirty="0"/>
            </a:br>
            <a:r>
              <a:rPr lang="en-US" sz="3200" b="1" dirty="0"/>
              <a:t>(ICD &amp; F2P Summary)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2E933-64E3-F19E-DE1D-109DBF4B9544}"/>
              </a:ext>
            </a:extLst>
          </p:cNvPr>
          <p:cNvSpPr txBox="1"/>
          <p:nvPr/>
        </p:nvSpPr>
        <p:spPr>
          <a:xfrm>
            <a:off x="187722" y="4304402"/>
            <a:ext cx="536901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Stage-6 is responsible for assembling, formatting, and producing the </a:t>
            </a:r>
            <a:r>
              <a:rPr lang="en-US" sz="1200" b="1" dirty="0" err="1"/>
              <a:t>DoDAF</a:t>
            </a:r>
            <a:r>
              <a:rPr lang="en-US" sz="1200" b="1" dirty="0"/>
              <a:t>-compliant documents</a:t>
            </a:r>
            <a:r>
              <a:rPr lang="en-US" sz="1200" dirty="0"/>
              <a:t>—primarily the Initial Capabilities Document (ICD) and the Fit-for-Purpose Summary.</a:t>
            </a:r>
          </a:p>
          <a:p>
            <a:endParaRPr lang="en-US" sz="1200" dirty="0"/>
          </a:p>
          <a:p>
            <a:r>
              <a:rPr lang="en-US" sz="1200" b="1" dirty="0"/>
              <a:t>This stage also embeds all diagrams generated earlier, including: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OV</a:t>
            </a:r>
            <a:r>
              <a:rPr lang="en-US" sz="1200" dirty="0"/>
              <a:t> operational flows,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SV/</a:t>
            </a:r>
            <a:r>
              <a:rPr lang="en-US" sz="1200" b="1" dirty="0" err="1"/>
              <a:t>SvcV</a:t>
            </a:r>
            <a:r>
              <a:rPr lang="en-US" sz="1200" dirty="0"/>
              <a:t> system and interface models,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PV/</a:t>
            </a:r>
            <a:r>
              <a:rPr lang="en-US" sz="1200" b="1" dirty="0" err="1"/>
              <a:t>StdV</a:t>
            </a:r>
            <a:r>
              <a:rPr lang="en-US" sz="1200" dirty="0"/>
              <a:t> performance and standards diagrams,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any </a:t>
            </a:r>
            <a:r>
              <a:rPr lang="en-US" sz="1200" b="1" dirty="0" err="1"/>
              <a:t>SysML</a:t>
            </a:r>
            <a:r>
              <a:rPr lang="en-US" sz="1200" b="1" dirty="0"/>
              <a:t> exports</a:t>
            </a:r>
            <a:r>
              <a:rPr lang="en-US" sz="1200" dirty="0"/>
              <a:t> produced by Rhapsody.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D8064-AF87-F2E5-C346-EB5FC1069A8F}"/>
              </a:ext>
            </a:extLst>
          </p:cNvPr>
          <p:cNvSpPr txBox="1"/>
          <p:nvPr/>
        </p:nvSpPr>
        <p:spPr>
          <a:xfrm>
            <a:off x="187722" y="6121670"/>
            <a:ext cx="536901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This Output upon passing HIL review and approval, becomes the input to the JCIDS Pipeline.</a:t>
            </a:r>
          </a:p>
        </p:txBody>
      </p:sp>
    </p:spTree>
    <p:extLst>
      <p:ext uri="{BB962C8B-B14F-4D97-AF65-F5344CB8AC3E}">
        <p14:creationId xmlns:p14="http://schemas.microsoft.com/office/powerpoint/2010/main" val="39169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D100-FFCF-DE4A-16F3-176F453C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2" name="Picture 12">
            <a:extLst>
              <a:ext uri="{FF2B5EF4-FFF2-40B4-BE49-F238E27FC236}">
                <a16:creationId xmlns:a16="http://schemas.microsoft.com/office/drawing/2014/main" id="{DF561390-51F5-6BC1-5ADC-BD714E9C3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311" y="1203068"/>
            <a:ext cx="10889085" cy="4196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BA8ABDE-06A3-C4B8-DF0B-8590BB77E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5500818" cy="696267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Enterprise Retrieval Layer for </a:t>
            </a:r>
            <a:r>
              <a:rPr lang="en-US" sz="3200" b="1" dirty="0" err="1"/>
              <a:t>DoW</a:t>
            </a:r>
            <a:r>
              <a:rPr lang="en-US" sz="3200" b="1" dirty="0"/>
              <a:t> Architecture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B2C5D-78BF-EAF5-2F12-0DD47FC96EBD}"/>
              </a:ext>
            </a:extLst>
          </p:cNvPr>
          <p:cNvSpPr txBox="1"/>
          <p:nvPr/>
        </p:nvSpPr>
        <p:spPr>
          <a:xfrm>
            <a:off x="7315201" y="6042453"/>
            <a:ext cx="389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Sources shown are examples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8FDC5D-1DF9-A1EE-C719-C4F4E056BB9C}"/>
              </a:ext>
            </a:extLst>
          </p:cNvPr>
          <p:cNvSpPr txBox="1"/>
          <p:nvPr/>
        </p:nvSpPr>
        <p:spPr>
          <a:xfrm>
            <a:off x="2903839" y="4617648"/>
            <a:ext cx="2693772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It retrieves: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Knowledge chunks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Textual summaries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Doctrine passages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Unstructured intel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Notes / reports / PDFs converted by </a:t>
            </a:r>
            <a:r>
              <a:rPr lang="en-US" sz="1200" dirty="0" err="1"/>
              <a:t>Docling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SME-written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Historical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Reference knowledge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5966D-ACB2-F9E7-4445-ED37069A89BE}"/>
              </a:ext>
            </a:extLst>
          </p:cNvPr>
          <p:cNvSpPr txBox="1"/>
          <p:nvPr/>
        </p:nvSpPr>
        <p:spPr>
          <a:xfrm>
            <a:off x="254604" y="4592546"/>
            <a:ext cx="2562737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It performs: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Normalization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Chunking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Masking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Governance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Provenance scoring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Knowledge fusion from multiple knowledge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58399-D910-E958-B3F5-7C71A2B326BA}"/>
              </a:ext>
            </a:extLst>
          </p:cNvPr>
          <p:cNvSpPr/>
          <p:nvPr/>
        </p:nvSpPr>
        <p:spPr>
          <a:xfrm>
            <a:off x="448021" y="1203068"/>
            <a:ext cx="2185010" cy="559631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WKC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(Watson Knowledge Catalog)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06FE578-D4CF-6BAC-0DA9-79382C5E9CB3}"/>
              </a:ext>
            </a:extLst>
          </p:cNvPr>
          <p:cNvCxnSpPr>
            <a:cxnSpLocks/>
          </p:cNvCxnSpPr>
          <p:nvPr/>
        </p:nvCxnSpPr>
        <p:spPr>
          <a:xfrm flipV="1">
            <a:off x="2126255" y="1762699"/>
            <a:ext cx="0" cy="28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74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24E0-95DF-E85D-985C-44FF9A3A5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F5EBA83A-A779-73B3-EEC6-5EBD4C332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54" y="321127"/>
            <a:ext cx="11114854" cy="465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6E90BB0-6662-646B-5138-67F10A215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5500818" cy="696267"/>
          </a:xfrm>
        </p:spPr>
        <p:txBody>
          <a:bodyPr>
            <a:normAutofit/>
          </a:bodyPr>
          <a:lstStyle/>
          <a:p>
            <a:r>
              <a:rPr lang="en-US" sz="3200" b="1" dirty="0"/>
              <a:t>Drools Rules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E633C-49A5-8A9D-941A-728C7A29489D}"/>
              </a:ext>
            </a:extLst>
          </p:cNvPr>
          <p:cNvSpPr txBox="1"/>
          <p:nvPr/>
        </p:nvSpPr>
        <p:spPr>
          <a:xfrm>
            <a:off x="187722" y="4790584"/>
            <a:ext cx="4340033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What Drools Does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Enforces </a:t>
            </a:r>
            <a:r>
              <a:rPr lang="en-US" sz="1200" b="1" dirty="0"/>
              <a:t>F2P (Fit-for-Purpose) Gate rules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Validates </a:t>
            </a:r>
            <a:r>
              <a:rPr lang="en-US" sz="1200" b="1" dirty="0"/>
              <a:t>document type, scope, and intended use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Determines required </a:t>
            </a:r>
            <a:r>
              <a:rPr lang="en-US" sz="1200" b="1" dirty="0"/>
              <a:t>downstream stages (2–6)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Applies </a:t>
            </a:r>
            <a:r>
              <a:rPr lang="en-US" sz="1200" b="1" dirty="0" err="1"/>
              <a:t>DoDAF</a:t>
            </a:r>
            <a:r>
              <a:rPr lang="en-US" sz="1200" b="1" dirty="0"/>
              <a:t> architectural constraints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Provides </a:t>
            </a:r>
            <a:r>
              <a:rPr lang="en-US" sz="1200" b="1" dirty="0"/>
              <a:t>ICD structural checks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Governs </a:t>
            </a:r>
            <a:r>
              <a:rPr lang="en-US" sz="1200" b="1" dirty="0"/>
              <a:t>OV/SV/</a:t>
            </a:r>
            <a:r>
              <a:rPr lang="en-US" sz="1200" b="1" dirty="0" err="1"/>
              <a:t>SvcV</a:t>
            </a:r>
            <a:r>
              <a:rPr lang="en-US" sz="1200" b="1" dirty="0"/>
              <a:t>/PV rule logic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Supports </a:t>
            </a:r>
            <a:r>
              <a:rPr lang="en-US" sz="1200" b="1" dirty="0"/>
              <a:t>red/yellow/green gating decisions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Ensures </a:t>
            </a:r>
            <a:r>
              <a:rPr lang="en-US" sz="1200" b="1" dirty="0"/>
              <a:t>governed, repeatable outputs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60914-CAD2-11BA-56FA-C4E9DA33016C}"/>
              </a:ext>
            </a:extLst>
          </p:cNvPr>
          <p:cNvSpPr txBox="1"/>
          <p:nvPr/>
        </p:nvSpPr>
        <p:spPr>
          <a:xfrm>
            <a:off x="187722" y="1017394"/>
            <a:ext cx="8335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Purpose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The Drools engine provides deterministic, governed decision logic across the </a:t>
            </a:r>
            <a:r>
              <a:rPr lang="en-US" sz="1400" dirty="0" err="1"/>
              <a:t>DoW</a:t>
            </a:r>
            <a:r>
              <a:rPr lang="en-US" sz="1400" dirty="0"/>
              <a:t> Agentic Pipeline. It ensures validation, routing, consistency, and enforceable rule compliance at each stage.</a:t>
            </a:r>
          </a:p>
        </p:txBody>
      </p:sp>
    </p:spTree>
    <p:extLst>
      <p:ext uri="{BB962C8B-B14F-4D97-AF65-F5344CB8AC3E}">
        <p14:creationId xmlns:p14="http://schemas.microsoft.com/office/powerpoint/2010/main" val="3987062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7BB2-5036-5894-2441-298CB80E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FDC009-D762-C037-B1EF-E40ED1AD7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5500818" cy="696267"/>
          </a:xfrm>
        </p:spPr>
        <p:txBody>
          <a:bodyPr>
            <a:normAutofit/>
          </a:bodyPr>
          <a:lstStyle/>
          <a:p>
            <a:r>
              <a:rPr lang="en-US" sz="3200" b="1" dirty="0"/>
              <a:t>Report Generation Process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8FF8BA-07E6-6417-AE92-8FBE7CC58684}"/>
              </a:ext>
            </a:extLst>
          </p:cNvPr>
          <p:cNvSpPr txBox="1"/>
          <p:nvPr/>
        </p:nvSpPr>
        <p:spPr>
          <a:xfrm>
            <a:off x="3086099" y="5657733"/>
            <a:ext cx="4016827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The Report Assembly Agents retrieve structured data from PostgreSQL (</a:t>
            </a:r>
            <a:r>
              <a:rPr lang="en-US" sz="1100" dirty="0" err="1"/>
              <a:t>dodaf_se</a:t>
            </a:r>
            <a:r>
              <a:rPr lang="en-US" sz="1100" dirty="0"/>
              <a:t> and </a:t>
            </a:r>
            <a:r>
              <a:rPr lang="en-US" sz="1100" dirty="0" err="1"/>
              <a:t>adr</a:t>
            </a:r>
            <a:r>
              <a:rPr lang="en-US" sz="1100" dirty="0"/>
              <a:t>), merge it with diagrams produced by </a:t>
            </a:r>
            <a:r>
              <a:rPr lang="en-US" sz="1100" dirty="0" err="1"/>
              <a:t>PlantUML</a:t>
            </a:r>
            <a:r>
              <a:rPr lang="en-US" sz="1100" dirty="0"/>
              <a:t> and Rhapsody, and populate the ICD and Fit-for-Purpose templates.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0BD45-5521-1986-7E27-4A9EB2965C1F}"/>
              </a:ext>
            </a:extLst>
          </p:cNvPr>
          <p:cNvSpPr txBox="1"/>
          <p:nvPr/>
        </p:nvSpPr>
        <p:spPr>
          <a:xfrm>
            <a:off x="7540775" y="5311484"/>
            <a:ext cx="4576731" cy="14619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b="1" dirty="0"/>
              <a:t>Report Output:</a:t>
            </a:r>
            <a:endParaRPr lang="en-US" sz="1100" dirty="0"/>
          </a:p>
          <a:p>
            <a:r>
              <a:rPr lang="en-US" sz="1100" dirty="0"/>
              <a:t>The result is a </a:t>
            </a:r>
            <a:r>
              <a:rPr lang="en-US" sz="1100" b="1" dirty="0"/>
              <a:t>fully generated, publication-ready ICD and Fit-for-Purpose Summary</a:t>
            </a:r>
            <a:r>
              <a:rPr lang="en-US" sz="1100" dirty="0"/>
              <a:t>, including:</a:t>
            </a:r>
          </a:p>
          <a:p>
            <a:r>
              <a:rPr lang="en-US" sz="1100" dirty="0"/>
              <a:t>structured architecture sections synthesized across all stages,</a:t>
            </a:r>
          </a:p>
          <a:p>
            <a:r>
              <a:rPr lang="en-US" sz="1100" dirty="0"/>
              <a:t>embedded </a:t>
            </a:r>
            <a:r>
              <a:rPr lang="en-US" sz="1100" b="1" dirty="0"/>
              <a:t>OV, SV, </a:t>
            </a:r>
            <a:r>
              <a:rPr lang="en-US" sz="1100" b="1" dirty="0" err="1"/>
              <a:t>SvcV</a:t>
            </a:r>
            <a:r>
              <a:rPr lang="en-US" sz="1100" b="1" dirty="0"/>
              <a:t>, PV, and </a:t>
            </a:r>
            <a:r>
              <a:rPr lang="en-US" sz="1100" b="1" dirty="0" err="1"/>
              <a:t>StdV</a:t>
            </a:r>
            <a:r>
              <a:rPr lang="en-US" sz="1100" dirty="0"/>
              <a:t> diagrams,</a:t>
            </a:r>
          </a:p>
          <a:p>
            <a:r>
              <a:rPr lang="en-US" sz="1100" dirty="0"/>
              <a:t>end-to-end traceability with </a:t>
            </a:r>
            <a:r>
              <a:rPr lang="en-US" sz="1100" b="1" dirty="0"/>
              <a:t>DM2-aligned references</a:t>
            </a:r>
            <a:r>
              <a:rPr lang="en-US" sz="1100" dirty="0"/>
              <a:t>, and</a:t>
            </a:r>
          </a:p>
          <a:p>
            <a:r>
              <a:rPr lang="en-US" sz="1100" dirty="0"/>
              <a:t>consistent formatting with </a:t>
            </a:r>
            <a:r>
              <a:rPr lang="en-US" sz="1100" b="1" dirty="0"/>
              <a:t>governance-aligned content</a:t>
            </a:r>
            <a:r>
              <a:rPr lang="en-US" sz="1100" dirty="0"/>
              <a:t>.</a:t>
            </a:r>
          </a:p>
          <a:p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D4FE77-24A4-2E34-327C-C76FC6A97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5546"/>
            <a:ext cx="12117506" cy="431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19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9194-70E5-389D-91BC-11CF4FD7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F30D948-479C-52FF-350A-8896DED0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9" y="16202"/>
            <a:ext cx="10796095" cy="611760"/>
          </a:xfrm>
        </p:spPr>
        <p:txBody>
          <a:bodyPr>
            <a:normAutofit/>
          </a:bodyPr>
          <a:lstStyle/>
          <a:p>
            <a:r>
              <a:rPr lang="en-US" sz="3200" b="1" dirty="0"/>
              <a:t>Artifacts produced at various stages and final Report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367474-FC4D-CCD2-A4F4-A044A05C1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308092"/>
              </p:ext>
            </p:extLst>
          </p:nvPr>
        </p:nvGraphicFramePr>
        <p:xfrm>
          <a:off x="187721" y="525529"/>
          <a:ext cx="11816558" cy="58572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15662">
                  <a:extLst>
                    <a:ext uri="{9D8B030D-6E8A-4147-A177-3AD203B41FA5}">
                      <a16:colId xmlns:a16="http://schemas.microsoft.com/office/drawing/2014/main" val="482346905"/>
                    </a:ext>
                  </a:extLst>
                </a:gridCol>
                <a:gridCol w="2666082">
                  <a:extLst>
                    <a:ext uri="{9D8B030D-6E8A-4147-A177-3AD203B41FA5}">
                      <a16:colId xmlns:a16="http://schemas.microsoft.com/office/drawing/2014/main" val="1262130893"/>
                    </a:ext>
                  </a:extLst>
                </a:gridCol>
                <a:gridCol w="4417764">
                  <a:extLst>
                    <a:ext uri="{9D8B030D-6E8A-4147-A177-3AD203B41FA5}">
                      <a16:colId xmlns:a16="http://schemas.microsoft.com/office/drawing/2014/main" val="2088814149"/>
                    </a:ext>
                  </a:extLst>
                </a:gridCol>
                <a:gridCol w="1299990">
                  <a:extLst>
                    <a:ext uri="{9D8B030D-6E8A-4147-A177-3AD203B41FA5}">
                      <a16:colId xmlns:a16="http://schemas.microsoft.com/office/drawing/2014/main" val="2197688375"/>
                    </a:ext>
                  </a:extLst>
                </a:gridCol>
                <a:gridCol w="2717060">
                  <a:extLst>
                    <a:ext uri="{9D8B030D-6E8A-4147-A177-3AD203B41FA5}">
                      <a16:colId xmlns:a16="http://schemas.microsoft.com/office/drawing/2014/main" val="1257702535"/>
                    </a:ext>
                  </a:extLst>
                </a:gridCol>
              </a:tblGrid>
              <a:tr h="338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Stage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Primary Function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DoDAF Views Produced / Informed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Exportable?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Used In Final Products</a:t>
                      </a:r>
                      <a:endParaRPr lang="en-US" sz="1400" dirty="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216323"/>
                  </a:ext>
                </a:extLst>
              </a:tr>
              <a:tr h="439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Stage-1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Identify Intended Use 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(F2P Gate)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 DoDAF views generated (routing + classification only)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N/A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Provides routing + purpose + constraints for ICD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5101916"/>
                  </a:ext>
                </a:extLst>
              </a:tr>
              <a:tr h="1048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Stage-2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Architecture Scope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 (ICD Framing)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CV Inputs</a:t>
                      </a:r>
                      <a:r>
                        <a:rPr lang="en-US" sz="1400" dirty="0"/>
                        <a:t>:•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CV-1 (Vision) — partially inferable; SME/HIL needed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CV-2 (capability taxonomy seed)• CV-3 (initial dependencies)Not exported, but internally produced as text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Partial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Creates </a:t>
                      </a:r>
                      <a:r>
                        <a:rPr lang="en-US" sz="1400" b="1"/>
                        <a:t>ICD Sections 1–2</a:t>
                      </a:r>
                      <a:r>
                        <a:rPr lang="en-US" sz="1400"/>
                        <a:t> foundation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8243022"/>
                  </a:ext>
                </a:extLst>
              </a:tr>
              <a:tr h="1150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Stage-3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Operational Viewpoint Extraction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DoDAF</a:t>
                      </a:r>
                      <a:r>
                        <a:rPr lang="en-US" sz="1400" b="1" dirty="0"/>
                        <a:t> Views Produced / Informed: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Extract and structure all operational-level data required to inform Operational Views (OVs).</a:t>
                      </a:r>
                    </a:p>
                    <a:p>
                      <a:r>
                        <a:rPr lang="en-US" sz="1400" i="1" u="none" dirty="0"/>
                        <a:t>Stage-3 does not generate diagrams.</a:t>
                      </a:r>
                      <a:endParaRPr lang="en-US" sz="1400" u="none" dirty="0"/>
                    </a:p>
                    <a:p>
                      <a:r>
                        <a:rPr lang="en-US" sz="1400" dirty="0"/>
                        <a:t>Provides the curated operational dataset used downstream to produce OV-1/2/3/5/6 (via </a:t>
                      </a:r>
                      <a:r>
                        <a:rPr lang="en-US" sz="1400" dirty="0" err="1"/>
                        <a:t>PlantUML</a:t>
                      </a:r>
                      <a:r>
                        <a:rPr lang="en-US" sz="1400" dirty="0"/>
                        <a:t>/Rhapsody generators).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Yes</a:t>
                      </a:r>
                      <a:r>
                        <a:rPr lang="en-US" sz="1400" dirty="0"/>
                        <a:t> (via </a:t>
                      </a:r>
                      <a:r>
                        <a:rPr lang="en-US" sz="1400" dirty="0" err="1"/>
                        <a:t>PlantUML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Populates </a:t>
                      </a:r>
                      <a:r>
                        <a:rPr lang="en-US" sz="1400" b="1" dirty="0"/>
                        <a:t>ICD operational context</a:t>
                      </a:r>
                      <a:r>
                        <a:rPr lang="en-US" sz="1400" dirty="0"/>
                        <a:t>, missions, activities, resource flows, constraints, and gaps.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7501454"/>
                  </a:ext>
                </a:extLst>
              </a:tr>
              <a:tr h="1048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Stage-4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System &amp; Service Viewpoint Modeling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SV/</a:t>
                      </a:r>
                      <a:r>
                        <a:rPr lang="en-US" sz="1400" b="1" dirty="0" err="1"/>
                        <a:t>SvcV</a:t>
                      </a:r>
                      <a:r>
                        <a:rPr lang="en-US" sz="1400" b="1" dirty="0"/>
                        <a:t> Views</a:t>
                      </a:r>
                      <a:r>
                        <a:rPr lang="en-US" sz="1400" dirty="0"/>
                        <a:t>:✔ SV-1 (Systems/Services)✔ SV-2 (Interfaces)✔ SV-4 (Functions)✔ SvcV-1/2/3 equivalents✔ </a:t>
                      </a:r>
                      <a:r>
                        <a:rPr lang="en-US" sz="1400" dirty="0" err="1"/>
                        <a:t>SysML</a:t>
                      </a:r>
                      <a:r>
                        <a:rPr lang="en-US" sz="1400" dirty="0"/>
                        <a:t> diagrams (via Rhapsody), Allocations.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Yes</a:t>
                      </a:r>
                      <a:r>
                        <a:rPr lang="en-US" sz="1400"/>
                        <a:t> (PlantUML + Rhapsody exports)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Populates </a:t>
                      </a:r>
                      <a:r>
                        <a:rPr lang="en-US" sz="1400" b="1" dirty="0"/>
                        <a:t>ICD architecture sections + diagrams</a:t>
                      </a:r>
                      <a:endParaRPr lang="en-US" sz="1400" dirty="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262030"/>
                  </a:ext>
                </a:extLst>
              </a:tr>
              <a:tr h="947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Stage-5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Performance / Standards Analysis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PV/StdV Views</a:t>
                      </a:r>
                      <a:r>
                        <a:rPr lang="en-US" sz="1400"/>
                        <a:t>:✔ PV-1 (Performance Parameters)✔ PV-2 (Performance Constraints)✔ StdV-1 (Standards Profile)✔ StdV-2 (Standards Forecast)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 (tables/graphs)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Populates </a:t>
                      </a:r>
                      <a:r>
                        <a:rPr lang="en-US" sz="1400" b="1"/>
                        <a:t>ICD KPP/KSAs, standards, technical constraints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7365261"/>
                  </a:ext>
                </a:extLst>
              </a:tr>
              <a:tr h="439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Stage-6</a:t>
                      </a:r>
                      <a:endParaRPr lang="en-US" sz="140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Present Results / Document Assembly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 new DoDAF views — assembles everything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N/A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Generates → </a:t>
                      </a:r>
                      <a:r>
                        <a:rPr lang="en-US" sz="1400" b="1" dirty="0" err="1"/>
                        <a:t>JOBID_ICD.docx</a:t>
                      </a:r>
                      <a:r>
                        <a:rPr lang="en-US" sz="1400" b="1" dirty="0"/>
                        <a:t> + JOBID_F2P_Summary.docx</a:t>
                      </a:r>
                      <a:endParaRPr lang="en-US" sz="1400" dirty="0"/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60623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6EA52B-526F-C886-5C94-3F74A74D9FB6}"/>
              </a:ext>
            </a:extLst>
          </p:cNvPr>
          <p:cNvSpPr txBox="1"/>
          <p:nvPr/>
        </p:nvSpPr>
        <p:spPr>
          <a:xfrm>
            <a:off x="187721" y="6534021"/>
            <a:ext cx="7469001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Final Deliverables (User-Facing): </a:t>
            </a:r>
            <a:r>
              <a:rPr lang="en-US" sz="1400" b="1" dirty="0" err="1"/>
              <a:t>JOBID_ICD.docx</a:t>
            </a:r>
            <a:r>
              <a:rPr lang="en-US" sz="1400" b="1" dirty="0"/>
              <a:t>,  JOBID_F2P_Summary.docx</a:t>
            </a:r>
          </a:p>
        </p:txBody>
      </p:sp>
    </p:spTree>
    <p:extLst>
      <p:ext uri="{BB962C8B-B14F-4D97-AF65-F5344CB8AC3E}">
        <p14:creationId xmlns:p14="http://schemas.microsoft.com/office/powerpoint/2010/main" val="2194822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09E29-3BCF-DDA4-E036-895DD31E0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FC1700-5569-FD69-97D8-778853B5A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5500818" cy="696267"/>
          </a:xfrm>
        </p:spPr>
        <p:txBody>
          <a:bodyPr>
            <a:normAutofit/>
          </a:bodyPr>
          <a:lstStyle/>
          <a:p>
            <a:r>
              <a:rPr lang="en-US" sz="3200" b="1" dirty="0"/>
              <a:t>Neo4J </a:t>
            </a:r>
            <a:r>
              <a:rPr lang="en-US" sz="3200" b="1" dirty="0" err="1"/>
              <a:t>GraphDB</a:t>
            </a:r>
            <a:endParaRPr 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7F701-05DF-AAF8-783D-C15FD876B2EA}"/>
              </a:ext>
            </a:extLst>
          </p:cNvPr>
          <p:cNvSpPr txBox="1"/>
          <p:nvPr/>
        </p:nvSpPr>
        <p:spPr>
          <a:xfrm>
            <a:off x="343811" y="5525224"/>
            <a:ext cx="6073318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When stages 3 through 5 run, they populate Neo4J with:</a:t>
            </a:r>
          </a:p>
          <a:p>
            <a:r>
              <a:rPr lang="en-US" sz="1200" b="1" dirty="0"/>
              <a:t>Operational View entities</a:t>
            </a:r>
            <a:r>
              <a:rPr lang="en-US" sz="1200" dirty="0"/>
              <a:t> such as activities, performers, nodes, and exchanges</a:t>
            </a:r>
          </a:p>
          <a:p>
            <a:r>
              <a:rPr lang="en-US" sz="1200" b="1" dirty="0"/>
              <a:t>System and Service View elements</a:t>
            </a:r>
            <a:r>
              <a:rPr lang="en-US" sz="1200" dirty="0"/>
              <a:t>, including systems, interfaces, ports, services, and resource flows</a:t>
            </a:r>
          </a:p>
          <a:p>
            <a:r>
              <a:rPr lang="en-US" sz="1200" b="1" dirty="0"/>
              <a:t>Performance and Standards View relationships</a:t>
            </a:r>
            <a:r>
              <a:rPr lang="en-US" sz="1200" dirty="0"/>
              <a:t>, such as measures, rules, constraints, and standards applicability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D11BF-C527-4C40-771E-E2D3E0AE4E9B}"/>
              </a:ext>
            </a:extLst>
          </p:cNvPr>
          <p:cNvSpPr txBox="1"/>
          <p:nvPr/>
        </p:nvSpPr>
        <p:spPr>
          <a:xfrm>
            <a:off x="6629401" y="5525223"/>
            <a:ext cx="536121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The real power comes from the relationships: OV → SV/</a:t>
            </a:r>
            <a:r>
              <a:rPr lang="en-US" sz="1200" b="1" dirty="0" err="1"/>
              <a:t>SvcV</a:t>
            </a:r>
            <a:r>
              <a:rPr lang="en-US" sz="1200" b="1" dirty="0"/>
              <a:t> → PV/</a:t>
            </a:r>
            <a:r>
              <a:rPr lang="en-US" sz="1200" b="1" dirty="0" err="1"/>
              <a:t>StdV</a:t>
            </a:r>
            <a:r>
              <a:rPr lang="en-US" sz="1200" b="1" dirty="0"/>
              <a:t>.</a:t>
            </a:r>
          </a:p>
          <a:p>
            <a:r>
              <a:rPr lang="en-US" sz="1200" dirty="0"/>
              <a:t>These allow agents to ask questions like:</a:t>
            </a:r>
          </a:p>
          <a:p>
            <a:r>
              <a:rPr lang="en-US" sz="1200" i="1" dirty="0"/>
              <a:t>“Which system supports this operational activity?”</a:t>
            </a:r>
            <a:endParaRPr lang="en-US" sz="1200" dirty="0"/>
          </a:p>
          <a:p>
            <a:r>
              <a:rPr lang="en-US" sz="1200" i="1" dirty="0"/>
              <a:t>“Which standards constrain this interface?”</a:t>
            </a:r>
            <a:endParaRPr lang="en-US" sz="1200" dirty="0"/>
          </a:p>
          <a:p>
            <a:r>
              <a:rPr lang="en-US" sz="1200" i="1" dirty="0"/>
              <a:t>“What is the traceability path from an OV mission objective down to a PV performance measure?”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8C3FC8-BB37-974C-C113-F89DC1951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11" y="1011489"/>
            <a:ext cx="10918737" cy="384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942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188A-E0BD-1659-473C-AF09E9C5D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A1465C-6B86-2DAC-AF74-7AB0AB992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2802613" cy="696267"/>
          </a:xfrm>
        </p:spPr>
        <p:txBody>
          <a:bodyPr>
            <a:normAutofit/>
          </a:bodyPr>
          <a:lstStyle/>
          <a:p>
            <a:r>
              <a:rPr lang="en-US" sz="3200" b="1" dirty="0"/>
              <a:t>IBM Rhapsody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C90240-7293-99F9-F52B-334021A63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57" y="653144"/>
            <a:ext cx="10435614" cy="498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873EB2-484D-A231-85F3-85EB23DA36A3}"/>
              </a:ext>
            </a:extLst>
          </p:cNvPr>
          <p:cNvSpPr txBox="1"/>
          <p:nvPr/>
        </p:nvSpPr>
        <p:spPr>
          <a:xfrm>
            <a:off x="6792687" y="5442289"/>
            <a:ext cx="5197928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Rhapsody serves as the </a:t>
            </a:r>
            <a:r>
              <a:rPr lang="en-US" sz="1200" b="1" dirty="0" err="1"/>
              <a:t>SysML</a:t>
            </a:r>
            <a:r>
              <a:rPr lang="en-US" sz="1200" b="1" dirty="0"/>
              <a:t> </a:t>
            </a:r>
            <a:r>
              <a:rPr lang="en-US" sz="1200" dirty="0"/>
              <a:t>modeling environment that receives structured architectural content from earlier stages and transforms it into standards-compliant systems engineering models.</a:t>
            </a:r>
          </a:p>
          <a:p>
            <a:r>
              <a:rPr lang="en-US" sz="1200" dirty="0"/>
              <a:t>While Neo4J provides semantic relationships and </a:t>
            </a:r>
            <a:r>
              <a:rPr lang="en-US" sz="1200" dirty="0" err="1"/>
              <a:t>PlantUML</a:t>
            </a:r>
            <a:r>
              <a:rPr lang="en-US" sz="1200" dirty="0"/>
              <a:t> generates quick visual diagrams, Rhapsody produces the formal </a:t>
            </a:r>
            <a:r>
              <a:rPr lang="en-US" sz="1200" dirty="0" err="1"/>
              <a:t>SysML</a:t>
            </a:r>
            <a:r>
              <a:rPr lang="en-US" sz="1200" dirty="0"/>
              <a:t> artifacts expected in larger DoD programs.</a:t>
            </a:r>
          </a:p>
        </p:txBody>
      </p:sp>
    </p:spTree>
    <p:extLst>
      <p:ext uri="{BB962C8B-B14F-4D97-AF65-F5344CB8AC3E}">
        <p14:creationId xmlns:p14="http://schemas.microsoft.com/office/powerpoint/2010/main" val="886748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2FCD-3EFC-56A4-9D3A-C20005C57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B20F3A-D339-E5E6-0DAA-7E02B12A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51" y="173068"/>
            <a:ext cx="7181267" cy="696267"/>
          </a:xfrm>
        </p:spPr>
        <p:txBody>
          <a:bodyPr>
            <a:normAutofit/>
          </a:bodyPr>
          <a:lstStyle/>
          <a:p>
            <a:r>
              <a:rPr lang="en-US" sz="3200" b="1" dirty="0"/>
              <a:t>Components and brief description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BA5152-9B11-844B-CD05-6FD3F0A48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838149"/>
              </p:ext>
            </p:extLst>
          </p:nvPr>
        </p:nvGraphicFramePr>
        <p:xfrm>
          <a:off x="502400" y="903332"/>
          <a:ext cx="11384799" cy="51023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90359">
                  <a:extLst>
                    <a:ext uri="{9D8B030D-6E8A-4147-A177-3AD203B41FA5}">
                      <a16:colId xmlns:a16="http://schemas.microsoft.com/office/drawing/2014/main" val="478469987"/>
                    </a:ext>
                  </a:extLst>
                </a:gridCol>
                <a:gridCol w="8794440">
                  <a:extLst>
                    <a:ext uri="{9D8B030D-6E8A-4147-A177-3AD203B41FA5}">
                      <a16:colId xmlns:a16="http://schemas.microsoft.com/office/drawing/2014/main" val="2057137735"/>
                    </a:ext>
                  </a:extLst>
                </a:gridCol>
              </a:tblGrid>
              <a:tr h="319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Technology / Product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Role in the Architecture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136816"/>
                  </a:ext>
                </a:extLst>
              </a:tr>
              <a:tr h="499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Docling</a:t>
                      </a:r>
                      <a:endParaRPr lang="en-US" sz="14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OCR + layout extraction of PDFs/Word/images into structured Markdown and text blocks.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956613"/>
                  </a:ext>
                </a:extLst>
              </a:tr>
              <a:tr h="499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Drools Rules Engine</a:t>
                      </a:r>
                      <a:endParaRPr lang="en-US" sz="14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Executes Fit-for-Purpose rules, routing logic, architecture constraints, and validation.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665762"/>
                  </a:ext>
                </a:extLst>
              </a:tr>
              <a:tr h="570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Kafka</a:t>
                      </a:r>
                      <a:endParaRPr lang="en-US" sz="1400" dirty="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Event bus and control plane: triggers stages, streams logs, and synchronizes workflow execution. Pipelines get triggered by events. </a:t>
                      </a:r>
                      <a:r>
                        <a:rPr lang="en-US" sz="1400" dirty="0" err="1"/>
                        <a:t>eg.</a:t>
                      </a:r>
                      <a:r>
                        <a:rPr lang="en-US" sz="1400" dirty="0"/>
                        <a:t> JCIDS pipeline gets triggered when an event is published to the </a:t>
                      </a:r>
                      <a:r>
                        <a:rPr lang="en-US" sz="1400" dirty="0" err="1"/>
                        <a:t>jcids_in</a:t>
                      </a:r>
                      <a:r>
                        <a:rPr lang="en-US" sz="1400" dirty="0"/>
                        <a:t> topic with link to input artifacts in the S3 bucket. 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162558"/>
                  </a:ext>
                </a:extLst>
              </a:tr>
              <a:tr h="499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S3</a:t>
                      </a:r>
                      <a:endParaRPr lang="en-US" sz="1400" dirty="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Object storage for uploaded documents, extracted text, diagrams, and final ICD/F2P outputs.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906132"/>
                  </a:ext>
                </a:extLst>
              </a:tr>
              <a:tr h="54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Neo4J GraphDB</a:t>
                      </a:r>
                      <a:endParaRPr lang="en-US" sz="14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DM2-based knowledge graph storing OV/SV/SvcV/PV entities and relationships; supports traceability.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875577"/>
                  </a:ext>
                </a:extLst>
              </a:tr>
              <a:tr h="499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IBM Rhapsody</a:t>
                      </a:r>
                      <a:endParaRPr lang="en-US" sz="14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SysML modeling environment for OV/SV/SvcV/PV views; generates formal engineering diagrams.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934709"/>
                  </a:ext>
                </a:extLst>
              </a:tr>
              <a:tr h="499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PostgreSQL</a:t>
                      </a:r>
                      <a:endParaRPr lang="en-US" sz="14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Structured data storage for stage outputs (</a:t>
                      </a:r>
                      <a:r>
                        <a:rPr lang="en-US" sz="1400" dirty="0" err="1"/>
                        <a:t>dodaf_se</a:t>
                      </a:r>
                      <a:r>
                        <a:rPr lang="en-US" sz="1400" dirty="0"/>
                        <a:t>) and authoritative DM2 entities (</a:t>
                      </a:r>
                      <a:r>
                        <a:rPr lang="en-US" sz="1400" dirty="0" err="1"/>
                        <a:t>adr</a:t>
                      </a:r>
                      <a:r>
                        <a:rPr lang="en-US" sz="1400" dirty="0"/>
                        <a:t>).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088691"/>
                  </a:ext>
                </a:extLst>
              </a:tr>
              <a:tr h="499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Knowledge Catalog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Example: WKC unifies business and technical stewardship in one governed platform, enabling our </a:t>
                      </a:r>
                      <a:r>
                        <a:rPr lang="en-US" sz="1400" b="0" dirty="0" err="1"/>
                        <a:t>DoW</a:t>
                      </a:r>
                      <a:r>
                        <a:rPr lang="en-US" sz="1400" b="0" dirty="0"/>
                        <a:t> Retriever to provide agents with rich, trusted context. Similar products like WKC as suitable for FedRAMP env. 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584394"/>
                  </a:ext>
                </a:extLst>
              </a:tr>
              <a:tr h="519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FastAPI</a:t>
                      </a:r>
                      <a:endParaRPr lang="en-US" sz="14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Backend service layer for orchestrator APIs, job submission, status, console streaming, and report retrieval.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9722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EA13D89-5B6D-180E-B095-72543DD944D2}"/>
              </a:ext>
            </a:extLst>
          </p:cNvPr>
          <p:cNvSpPr txBox="1"/>
          <p:nvPr/>
        </p:nvSpPr>
        <p:spPr>
          <a:xfrm>
            <a:off x="502400" y="6081267"/>
            <a:ext cx="1138479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i="1" dirty="0"/>
              <a:t>WKC ensures every component operates on governed, trusted, and well-stewarded data—dramatically improving the quality and reliability of agent outputs.</a:t>
            </a:r>
          </a:p>
          <a:p>
            <a:r>
              <a:rPr lang="en-US" sz="1200" b="1" i="1" dirty="0"/>
              <a:t>The </a:t>
            </a:r>
            <a:r>
              <a:rPr lang="en-US" sz="1200" b="1" i="1" dirty="0" err="1"/>
              <a:t>DoW</a:t>
            </a:r>
            <a:r>
              <a:rPr lang="en-US" sz="1200" b="1" i="1" dirty="0"/>
              <a:t> Retriever leverages WKC’s governed metadata and lineage to deliver rich, trusted context to all agents.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977533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B26A-9E69-DF0E-99D2-E24AE19D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C219B9-AEF8-0DDA-512E-1E3DB8205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51" y="173068"/>
            <a:ext cx="9038419" cy="696267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DoDAF</a:t>
            </a:r>
            <a:r>
              <a:rPr lang="en-US" sz="3200" b="1" dirty="0"/>
              <a:t> 6-Stage </a:t>
            </a:r>
            <a:r>
              <a:rPr lang="en-US" sz="3200" b="1" dirty="0" err="1"/>
              <a:t>CrewAI</a:t>
            </a:r>
            <a:r>
              <a:rPr lang="en-US" sz="3200" b="1" dirty="0"/>
              <a:t> Pipeline - Crews &amp; Agents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8862FC-E5D1-A5A2-AB62-66C6E86D3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058474"/>
              </p:ext>
            </p:extLst>
          </p:nvPr>
        </p:nvGraphicFramePr>
        <p:xfrm>
          <a:off x="522514" y="1045029"/>
          <a:ext cx="11350172" cy="55019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462">
                  <a:extLst>
                    <a:ext uri="{9D8B030D-6E8A-4147-A177-3AD203B41FA5}">
                      <a16:colId xmlns:a16="http://schemas.microsoft.com/office/drawing/2014/main" val="627784775"/>
                    </a:ext>
                  </a:extLst>
                </a:gridCol>
                <a:gridCol w="8622710">
                  <a:extLst>
                    <a:ext uri="{9D8B030D-6E8A-4147-A177-3AD203B41FA5}">
                      <a16:colId xmlns:a16="http://schemas.microsoft.com/office/drawing/2014/main" val="2690167965"/>
                    </a:ext>
                  </a:extLst>
                </a:gridCol>
              </a:tblGrid>
              <a:tr h="212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Stage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Agents 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491657"/>
                  </a:ext>
                </a:extLst>
              </a:tr>
              <a:tr h="851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stage1_identify_use_crew</a:t>
                      </a:r>
                      <a:endParaRPr lang="en-US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validation_agent, mission_assessment_agent, bd_stakeholder_extractor_agent, bd_pain_point_extractor_agent, pain_point_agent, objectives_agent, f2p_intent_agent, bd_summary_writer_agent, governance_agent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4309213"/>
                  </a:ext>
                </a:extLst>
              </a:tr>
              <a:tr h="117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Stage2_define_scope_crew</a:t>
                      </a:r>
                      <a:endParaRPr lang="en-US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project_extractor_agent, constraint_identification_sme_agent, operational_extractor_agent, capability_extractor_agent, bd_risk_extractor_agent, av2_vocabulary_agent, project_analyzer_agent, analyzer_needs_agent, summarizer_agent, governance_agent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176842"/>
                  </a:ext>
                </a:extLst>
              </a:tr>
              <a:tr h="851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stage3_required_data_crew</a:t>
                      </a:r>
                      <a:endParaRPr lang="en-US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data_requirements_agent, extractor_needs_agent, capability_extractor_agent, dm2_extractor_agent, system_service_extractor_agent, system_view_agent, summarizer_agent, governance_agent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336316"/>
                  </a:ext>
                </a:extLst>
              </a:tr>
              <a:tr h="117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stage4_collect_correlate_data_crew</a:t>
                      </a:r>
                      <a:endParaRPr lang="en-US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operational_extractor_agent, capability_extractor_agent, system_service_extractor_agent, system_view_agent, services_view_agent, dm2_extractor_agent, data_correlation_agent, persistence_agent, summarizer_agent, logging_agent, governance_agent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141637"/>
                  </a:ext>
                </a:extLst>
              </a:tr>
              <a:tr h="117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stage5_analyze_objectives_crew</a:t>
                      </a:r>
                      <a:endParaRPr lang="en-US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validation_agent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verification_agent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analyzer_agent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capability_analyzer_agent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operational_analyzer_agent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project_analyzer_agent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analyzer_needs_agent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bd_risk_extractor_agent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bd_actionitem_generator_agent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summarizer_agent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governance_agent</a:t>
                      </a:r>
                      <a:endParaRPr lang="en-US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705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317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7EB1-2367-8C68-90F2-AAD6381D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0707BA-C35B-AA36-61A0-95A78DEA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33" y="76014"/>
            <a:ext cx="2483383" cy="551947"/>
          </a:xfrm>
        </p:spPr>
        <p:txBody>
          <a:bodyPr>
            <a:normAutofit/>
          </a:bodyPr>
          <a:lstStyle/>
          <a:p>
            <a:r>
              <a:rPr lang="en-US" sz="3200" b="1" dirty="0"/>
              <a:t>Acronyms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8E4E43-FED9-AAC6-ED3B-E6C694ACD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430691"/>
              </p:ext>
            </p:extLst>
          </p:nvPr>
        </p:nvGraphicFramePr>
        <p:xfrm>
          <a:off x="336868" y="772281"/>
          <a:ext cx="11518264" cy="570823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79566">
                  <a:extLst>
                    <a:ext uri="{9D8B030D-6E8A-4147-A177-3AD203B41FA5}">
                      <a16:colId xmlns:a16="http://schemas.microsoft.com/office/drawing/2014/main" val="2042444878"/>
                    </a:ext>
                  </a:extLst>
                </a:gridCol>
                <a:gridCol w="2879566">
                  <a:extLst>
                    <a:ext uri="{9D8B030D-6E8A-4147-A177-3AD203B41FA5}">
                      <a16:colId xmlns:a16="http://schemas.microsoft.com/office/drawing/2014/main" val="2236363493"/>
                    </a:ext>
                  </a:extLst>
                </a:gridCol>
                <a:gridCol w="2879566">
                  <a:extLst>
                    <a:ext uri="{9D8B030D-6E8A-4147-A177-3AD203B41FA5}">
                      <a16:colId xmlns:a16="http://schemas.microsoft.com/office/drawing/2014/main" val="2019668718"/>
                    </a:ext>
                  </a:extLst>
                </a:gridCol>
                <a:gridCol w="2879566">
                  <a:extLst>
                    <a:ext uri="{9D8B030D-6E8A-4147-A177-3AD203B41FA5}">
                      <a16:colId xmlns:a16="http://schemas.microsoft.com/office/drawing/2014/main" val="2169606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Acronym</a:t>
                      </a:r>
                      <a:endParaRPr lang="en-US" sz="140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Meaning</a:t>
                      </a:r>
                      <a:endParaRPr lang="en-US" sz="140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Acronym</a:t>
                      </a:r>
                      <a:endParaRPr lang="en-US" sz="14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Meaning</a:t>
                      </a:r>
                      <a:endParaRPr lang="en-US" sz="14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25833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DoDAF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Dept. of Defense Architecture Framework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PV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Performance Viewpoint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973695"/>
                  </a:ext>
                </a:extLst>
              </a:tr>
              <a:tr h="224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DM2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DoD MetaModel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StdV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Standards Viewpoint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470497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ICD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Initial Capabilities Document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OV-1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Operational Concept Graphic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343452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F2P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Fit-for-Purpose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OV-2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Operational Resource Flow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42660"/>
                  </a:ext>
                </a:extLst>
              </a:tr>
              <a:tr h="224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OV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Operational Viewpoint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OV-3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Operational Event Trace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319128"/>
                  </a:ext>
                </a:extLst>
              </a:tr>
              <a:tr h="224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CV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Capability Viewpoint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OV-5a/b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Activity Model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6857"/>
                  </a:ext>
                </a:extLst>
              </a:tr>
              <a:tr h="224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SV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Systems Viewpoint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OV-6c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State Transition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719146"/>
                  </a:ext>
                </a:extLst>
              </a:tr>
              <a:tr h="224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SvcV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Services Viewpoint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SV-1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Systems Interface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777494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PV-1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Performance Parameters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SV-2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Systems Resource Flow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956301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PV-2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Performance Constraints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SV-4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Systems Functionality &amp; Allocations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887012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SvcV-1/2/3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Service Models / Interfaces / Flows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StdV-1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Standards Profile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993597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ADR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Authoritative Data Repository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StdV-2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Standards Forecast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072272"/>
                  </a:ext>
                </a:extLst>
              </a:tr>
              <a:tr h="562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ISR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Intelligence, Surveillance &amp; Reconnaissance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HIL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Human-In-the-Loop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096252"/>
                  </a:ext>
                </a:extLst>
              </a:tr>
              <a:tr h="224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ORBAT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Order of Battle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S3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Object Storage (MinIO)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06657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OCR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Optical Character Recognition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MCP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Model Context Protocol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804205"/>
                  </a:ext>
                </a:extLst>
              </a:tr>
              <a:tr h="39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API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Application Programming Interface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SysML</a:t>
                      </a:r>
                      <a:endParaRPr lang="en-US" sz="1100" dirty="0"/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Systems Modeling Language</a:t>
                      </a:r>
                    </a:p>
                  </a:txBody>
                  <a:tcPr marL="43083" marR="43083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898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848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E5C9-DEF8-3079-A9CD-846CD8F3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7DEB8F-31C4-A86A-78B9-8A2B932D5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22" y="119279"/>
            <a:ext cx="9655525" cy="696267"/>
          </a:xfrm>
        </p:spPr>
        <p:txBody>
          <a:bodyPr>
            <a:normAutofit/>
          </a:bodyPr>
          <a:lstStyle/>
          <a:p>
            <a:r>
              <a:rPr lang="en-US" sz="3200" b="1" dirty="0"/>
              <a:t>End-to-End </a:t>
            </a:r>
            <a:r>
              <a:rPr lang="en-US" sz="3200" b="1" dirty="0" err="1"/>
              <a:t>DoDAF</a:t>
            </a:r>
            <a:r>
              <a:rPr lang="en-US" sz="3200" b="1" dirty="0"/>
              <a:t> 2.0 Agentic Workflow - Summary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1AEE9-1DC3-A798-4CF8-AC2752476264}"/>
              </a:ext>
            </a:extLst>
          </p:cNvPr>
          <p:cNvSpPr txBox="1"/>
          <p:nvPr/>
        </p:nvSpPr>
        <p:spPr>
          <a:xfrm>
            <a:off x="242737" y="785363"/>
            <a:ext cx="118742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This architecture delivers an end-to-end, fully agentic </a:t>
            </a:r>
            <a:r>
              <a:rPr lang="en-US" sz="2400" b="1" dirty="0" err="1"/>
              <a:t>DoDAF</a:t>
            </a:r>
            <a:r>
              <a:rPr lang="en-US" sz="2400" b="1" dirty="0"/>
              <a:t> 2.0 workflow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Automated intake → OCR → structured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Agentic six-stage </a:t>
            </a:r>
            <a:r>
              <a:rPr lang="en-US" sz="2400" dirty="0" err="1"/>
              <a:t>DoDAF</a:t>
            </a:r>
            <a:r>
              <a:rPr lang="en-US" sz="2400" dirty="0"/>
              <a:t>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Federated knowledge retrieval via </a:t>
            </a:r>
            <a:r>
              <a:rPr lang="en-US" sz="2400" dirty="0" err="1"/>
              <a:t>DoW</a:t>
            </a:r>
            <a:r>
              <a:rPr lang="en-US" sz="2400" dirty="0"/>
              <a:t> Retriever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knowledge base like WKC the retriever would use to fetch domain specific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Graph-based reasoning with Neo4j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Formal </a:t>
            </a:r>
            <a:r>
              <a:rPr lang="en-US" sz="2400" dirty="0" err="1"/>
              <a:t>SysML</a:t>
            </a:r>
            <a:r>
              <a:rPr lang="en-US" sz="2400" dirty="0"/>
              <a:t> modeling in IBM Rhapsody – or similar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Automated diagram generation (OV/SV/PV)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Structured storage in PostgreSQL (</a:t>
            </a:r>
            <a:r>
              <a:rPr lang="en-US" sz="2400" dirty="0" err="1"/>
              <a:t>dodaf_se</a:t>
            </a:r>
            <a:r>
              <a:rPr lang="en-US" sz="2400" dirty="0"/>
              <a:t> + </a:t>
            </a:r>
            <a:r>
              <a:rPr lang="en-US" sz="2400" dirty="0" err="1"/>
              <a:t>adr</a:t>
            </a:r>
            <a:r>
              <a:rPr lang="en-US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Automated DOCX report generation (ICD + F2P Summary)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Complete traceability, provenance, and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Fully orchestrated and repeatable architecture pipeline</a:t>
            </a:r>
          </a:p>
        </p:txBody>
      </p:sp>
      <p:pic>
        <p:nvPicPr>
          <p:cNvPr id="4" name="Picture 2" descr="Agile DoDAF 2 &amp; UAF live expert virtual ...">
            <a:extLst>
              <a:ext uri="{FF2B5EF4-FFF2-40B4-BE49-F238E27FC236}">
                <a16:creationId xmlns:a16="http://schemas.microsoft.com/office/drawing/2014/main" id="{B25124E6-7491-7777-8AD1-A586428C4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725" y="5437215"/>
            <a:ext cx="1859295" cy="130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rewAI Launches Multi-Agentic Platform ...">
            <a:extLst>
              <a:ext uri="{FF2B5EF4-FFF2-40B4-BE49-F238E27FC236}">
                <a16:creationId xmlns:a16="http://schemas.microsoft.com/office/drawing/2014/main" id="{EE785AFF-69B1-6D6A-3FC5-9AD6018B7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815" y="5828551"/>
            <a:ext cx="1953537" cy="91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BM Nederland BV - NIDV">
            <a:extLst>
              <a:ext uri="{FF2B5EF4-FFF2-40B4-BE49-F238E27FC236}">
                <a16:creationId xmlns:a16="http://schemas.microsoft.com/office/drawing/2014/main" id="{02CA351E-A9DB-695A-9BB2-F460DC13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80" y="5556494"/>
            <a:ext cx="2088293" cy="130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706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89D6-F692-D2F1-7B12-F7DA78B6C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72E8F-2A43-CAAD-BFF3-5CC187D4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428" y="2566644"/>
            <a:ext cx="4137143" cy="696267"/>
          </a:xfrm>
        </p:spPr>
        <p:txBody>
          <a:bodyPr>
            <a:normAutofit/>
          </a:bodyPr>
          <a:lstStyle/>
          <a:p>
            <a:r>
              <a:rPr lang="en-US" sz="3200" b="1" dirty="0"/>
              <a:t>Questions?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E9862D-062F-C866-CC8F-60318A6E94CC}"/>
              </a:ext>
            </a:extLst>
          </p:cNvPr>
          <p:cNvSpPr/>
          <p:nvPr/>
        </p:nvSpPr>
        <p:spPr>
          <a:xfrm>
            <a:off x="2978545" y="3213212"/>
            <a:ext cx="4601060" cy="4315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contact: </a:t>
            </a:r>
            <a:r>
              <a:rPr lang="en-US" dirty="0" err="1">
                <a:solidFill>
                  <a:schemeClr val="tx1"/>
                </a:solidFill>
              </a:rPr>
              <a:t>ravi.natarajan@ibm.com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233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8C14-E1D7-7E2A-710E-89E5A12B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D2B6668-9E22-8F1B-DDC7-610CEE508BE2}"/>
              </a:ext>
            </a:extLst>
          </p:cNvPr>
          <p:cNvGrpSpPr/>
          <p:nvPr/>
        </p:nvGrpSpPr>
        <p:grpSpPr>
          <a:xfrm>
            <a:off x="3351427" y="141514"/>
            <a:ext cx="5489146" cy="6574972"/>
            <a:chOff x="3350054" y="283028"/>
            <a:chExt cx="5491892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B53406-3762-9B0C-446F-7BF94BD9A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0054" y="283028"/>
              <a:ext cx="549189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BB32D9D-587F-0344-0AD9-B9D4E130B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3450" y="2108200"/>
              <a:ext cx="209550" cy="189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3906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7391</Words>
  <Application>Microsoft Macintosh PowerPoint</Application>
  <PresentationFormat>Widescreen</PresentationFormat>
  <Paragraphs>803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DoW Agentic Process Flow — DoDAF 2.0</vt:lpstr>
      <vt:lpstr>PowerPoint Presentation</vt:lpstr>
      <vt:lpstr>PowerPoint Presentation</vt:lpstr>
      <vt:lpstr>Main Agentic Process Flow</vt:lpstr>
      <vt:lpstr>PowerPoint Presentation</vt:lpstr>
      <vt:lpstr>PowerPoint Presentation</vt:lpstr>
      <vt:lpstr>PowerPoint Presentation</vt:lpstr>
      <vt:lpstr>PowerPoint Presentation</vt:lpstr>
      <vt:lpstr>Incoming Documents Flow  Intake &amp; Pre-Processing</vt:lpstr>
      <vt:lpstr>Pipeline Trigger &amp; Stage-1 (F2P Gate)</vt:lpstr>
      <vt:lpstr>Stage-2: Architecture Scope Definition &amp; Initial ICD Creation</vt:lpstr>
      <vt:lpstr>Stage-3: Identify &amp; Structure Operational Data</vt:lpstr>
      <vt:lpstr>Stage 4: Collect &amp; Correlate Data System/Services Architecture</vt:lpstr>
      <vt:lpstr>Stage-5: Performance &amp; Standards Analysis</vt:lpstr>
      <vt:lpstr>Stage-6: Final Deliverables  (ICD &amp; F2P Summary)</vt:lpstr>
      <vt:lpstr>Enterprise Retrieval Layer for DoW Architecture Data</vt:lpstr>
      <vt:lpstr>Drools Rules Engine</vt:lpstr>
      <vt:lpstr>Report Generation Process</vt:lpstr>
      <vt:lpstr>Artifacts produced at various stages and final Report</vt:lpstr>
      <vt:lpstr>Neo4J GraphDB</vt:lpstr>
      <vt:lpstr>IBM Rhapsody</vt:lpstr>
      <vt:lpstr>Components and brief description</vt:lpstr>
      <vt:lpstr>DoDAF 6-Stage CrewAI Pipeline - Crews &amp; Agents</vt:lpstr>
      <vt:lpstr>Acronyms</vt:lpstr>
      <vt:lpstr>End-to-End DoDAF 2.0 Agentic Workflow - Summary</vt:lpstr>
      <vt:lpstr>Questions?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Natarajan</dc:creator>
  <cp:lastModifiedBy>Ravi Natarajan</cp:lastModifiedBy>
  <cp:revision>96</cp:revision>
  <dcterms:created xsi:type="dcterms:W3CDTF">2025-11-18T12:16:52Z</dcterms:created>
  <dcterms:modified xsi:type="dcterms:W3CDTF">2026-04-26T17:07:17Z</dcterms:modified>
</cp:coreProperties>
</file>